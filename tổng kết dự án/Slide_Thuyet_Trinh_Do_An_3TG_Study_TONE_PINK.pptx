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4754880" cy="411480"/>
          </a:xfrm>
          <a:prstGeom prst="roundRect">
            <a:avLst/>
          </a:prstGeom>
          <a:solidFill>
            <a:srgbClr val="FFE4EE"/>
          </a:solidFill>
          <a:ln w="19050">
            <a:solidFill>
              <a:srgbClr val="E83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E83E8C"/>
                </a:solidFill>
              </a:defRPr>
            </a:pPr>
            <a:r>
              <a:t>🎓 TRƯỜNG ĐẠI HỌC CMC · HỌC PHẦN CÔNG NGHỆ PHẦN MỀM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418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5C8D"/>
                </a:solidFill>
              </a:defRPr>
            </a:pPr>
            <a:r>
              <a:t>3TG — HỌC VUI MỖI NGÀY</a:t>
            </a:r>
          </a:p>
          <a:p>
            <a:pPr>
              <a:spcBef>
                <a:spcPts val="800"/>
              </a:spcBef>
              <a:defRPr sz="1600" b="1">
                <a:solidFill>
                  <a:srgbClr val="1A1F2C"/>
                </a:solidFill>
              </a:defRPr>
            </a:pPr>
            <a:r>
              <a:t>Hệ Thống Học Tập Gamification Duolingo, Cố Vấn 3TG AI &amp; Kết Nối Cổng Trường IU CMCU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Báo cáo tổng kết 3 Sprint, 30 chức năng cốt lõi và phát hành bộ cài đặt Desktop v9.9.9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931920"/>
            <a:ext cx="2926080" cy="1645920"/>
          </a:xfrm>
          <a:prstGeom prst="roundRect">
            <a:avLst/>
          </a:prstGeom>
          <a:solidFill>
            <a:srgbClr val="FFF5F8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4023360"/>
            <a:ext cx="2743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3E8C"/>
                </a:solidFill>
              </a:defRPr>
            </a:pPr>
            <a:r>
              <a:t>GIẢNG VIÊN HƯỚNG DẪN</a:t>
            </a:r>
          </a:p>
          <a:p>
            <a:pPr>
              <a:spcBef>
                <a:spcPts val="400"/>
              </a:spcBef>
              <a:defRPr sz="1200" b="1">
                <a:solidFill>
                  <a:srgbClr val="1A1F2C"/>
                </a:solidFill>
              </a:defRPr>
            </a:pPr>
            <a:r>
              <a:t>ThS. Vân Anh</a:t>
            </a:r>
            <a:br/>
            <a:r>
              <a:t>Bộ môn Công nghệ phần mềm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3931920"/>
            <a:ext cx="2926080" cy="1645920"/>
          </a:xfrm>
          <a:prstGeom prst="roundRect">
            <a:avLst/>
          </a:prstGeom>
          <a:solidFill>
            <a:srgbClr val="FFF5F8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4023360"/>
            <a:ext cx="2743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3E8C"/>
                </a:solidFill>
              </a:defRPr>
            </a:pPr>
            <a:r>
              <a:t>NHÓM THỰC HIỆN</a:t>
            </a:r>
          </a:p>
          <a:p>
            <a:pPr>
              <a:spcBef>
                <a:spcPts val="400"/>
              </a:spcBef>
              <a:defRPr sz="1200" b="1">
                <a:solidFill>
                  <a:srgbClr val="1A1F2C"/>
                </a:solidFill>
              </a:defRPr>
            </a:pPr>
            <a:r>
              <a:t>TONE PINK</a:t>
            </a:r>
            <a:br/>
            <a:r>
              <a:t>3 Thành viên chuyên môn hóa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931920"/>
            <a:ext cx="2926080" cy="1645920"/>
          </a:xfrm>
          <a:prstGeom prst="roundRect">
            <a:avLst/>
          </a:prstGeom>
          <a:solidFill>
            <a:srgbClr val="FFF5F8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0" y="4023360"/>
            <a:ext cx="2743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3E8C"/>
                </a:solidFill>
              </a:defRPr>
            </a:pPr>
            <a:r>
              <a:t>TRƯỞNG NHÓM (LEAD)</a:t>
            </a:r>
          </a:p>
          <a:p>
            <a:pPr>
              <a:spcBef>
                <a:spcPts val="400"/>
              </a:spcBef>
              <a:defRPr sz="1200" b="1">
                <a:solidFill>
                  <a:srgbClr val="1A1F2C"/>
                </a:solidFill>
              </a:defRPr>
            </a:pPr>
            <a:r>
              <a:t>Lê Văn An</a:t>
            </a:r>
            <a:br/>
            <a:r>
              <a:t>Fullstack, Cloudflare &amp; Desktop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3E8C"/>
                </a:solidFill>
              </a:defRPr>
            </a:pPr>
            <a:r>
              <a:t>🌸 TONE PINK · BÁO CÁO TỔNG KẾT ĐỒ ÁN CNPM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F2C"/>
                </a:solidFill>
              </a:defRPr>
            </a:pPr>
            <a:r>
              <a:t>Đội Ngũ Thực Hiện &amp; Phân Công Nhiệm Vụ — Nhóm TONE PINK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28416" cy="1097280"/>
          </a:xfrm>
          <a:prstGeom prst="roundRect">
            <a:avLst/>
          </a:prstGeom>
          <a:solidFill>
            <a:srgbClr val="FF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96265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5C8D"/>
                </a:solidFill>
              </a:defRPr>
            </a:pPr>
            <a:r>
              <a:t>Lê Văn An (Lead)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@Anniehatani · Nhóm trưởng · Fullstack &amp; Desktop Lead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96265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1F2C"/>
                </a:solidFill>
              </a:defRPr>
            </a:pPr>
            <a:r>
              <a:t>🎯 ĐẦU VIỆC CHỦ CHỐT: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✓ Quản lý tiến độ toàn bộ 3 Sprint trên GitHub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✓ Thiết lập kiến trúc Cloudflare Worker &amp; D1 Database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✓ Tích hợp Đăng nhập 1-Click Cổng trường IU CMCU (SSO)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✓ Trợ lý 3TG AI tư vấn Target GPA &amp; cẩm nang học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✓ Đóng gói ứng dụng Desktop v9.9.9 mở nhanh 1-2s ASAR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28416" cy="1097280"/>
          </a:xfrm>
          <a:prstGeom prst="roundRect">
            <a:avLst/>
          </a:prstGeom>
          <a:solidFill>
            <a:srgbClr val="FF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296265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B5CF6"/>
                </a:solidFill>
              </a:defRPr>
            </a:pPr>
            <a:r>
              <a:t>Nguyễn Như Quỳnh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@nguyennhuuquynhh07-07 · Frontend Lead &amp; UI/UX Designer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51760"/>
            <a:ext cx="296265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1F2C"/>
                </a:solidFill>
              </a:defRPr>
            </a:pPr>
            <a:r>
              <a:t>🎯 ĐẦU VIỆC CHỦ CHỐT: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✓ Thiết kế giao diện Duolingo Path uốn lượn SVG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✓ Lập trình Mascot Thỏ Bảy Màu với các biểu cảm động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✓ Xây dựng Khung Avatar động phong cách Discord Nitro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✓ Phát triển Chế độ tối Midnight Velvet Dark Mode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✓ Biên soạn bộ Slide thuyết trình PowerPoint chuyên nghiệp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328416" cy="1097280"/>
          </a:xfrm>
          <a:prstGeom prst="roundRect">
            <a:avLst/>
          </a:prstGeom>
          <a:solidFill>
            <a:srgbClr val="FF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1554480"/>
            <a:ext cx="296265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Nguyễn Tú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@tus-sud · Database Engineer &amp; QA Lead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651760"/>
            <a:ext cx="296265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1F2C"/>
                </a:solidFill>
              </a:defRPr>
            </a:pPr>
            <a:r>
              <a:t>🎯 ĐẦU VIỆC CHỦ CHỐT: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✓ Thiết kế mô hình CSDL quan hệ chuẩn 3NF (14 bảng)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✓ Xây dựng hệ thống Mạng xã hội kết bạn &amp; Chat 1-1 realtime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✓ Lập trình thuật toán tính toán GPA thang 10 &amp; 4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✓ Phân quyền bảo mật API chống vượt quyền IDOR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✓ Kiểm thử toàn diện E2E Testing đạt 100% Pass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3E8C"/>
                </a:solidFill>
              </a:defRPr>
            </a:pPr>
            <a:r>
              <a:t>🌸 TONE PINK · BÁO CÁO TỔNG KẾT ĐỒ ÁN CNPM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F2C"/>
                </a:solidFill>
              </a:defRPr>
            </a:pPr>
            <a:r>
              <a:t>Bài Toán Thực Tiễn &amp; 4 Trụ Cột Đột Phá Của 3TG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⚠️ BẤT CẬP THỰC TẾ SINH VIÊN ĐANG GẶP PHẢI</a:t>
            </a:r>
          </a:p>
          <a:p>
            <a:pPr>
              <a:spcBef>
                <a:spcPts val="800"/>
              </a:spcBef>
              <a:defRPr sz="1100" b="1">
                <a:solidFill>
                  <a:srgbClr val="1A1F2C"/>
                </a:solidFill>
              </a:defRPr>
            </a:pPr>
            <a:r>
              <a:t>• Giao diện cổng trường khô khan: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Cổng thông tin đào tạo cũ chỉ hiển thị bảng điểm tĩnh, thiếu tương tác, sinh viên khó nắm bắt lộ trình học.</a:t>
            </a:r>
          </a:p>
          <a:p>
            <a:pPr>
              <a:spcBef>
                <a:spcPts val="800"/>
              </a:spcBef>
              <a:defRPr sz="1100" b="1">
                <a:solidFill>
                  <a:srgbClr val="1A1F2C"/>
                </a:solidFill>
              </a:defRPr>
            </a:pPr>
            <a:r>
              <a:t>• Học trắc nghiệm mau chán: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Luyện đề thi truyền thống khô cứng, không có cơ chế khích lệ, điểm số hay chuỗi rèn luyện hàng ngày.</a:t>
            </a:r>
          </a:p>
          <a:p>
            <a:pPr>
              <a:spcBef>
                <a:spcPts val="800"/>
              </a:spcBef>
              <a:defRPr sz="1100" b="1">
                <a:solidFill>
                  <a:srgbClr val="1A1F2C"/>
                </a:solidFill>
              </a:defRPr>
            </a:pPr>
            <a:r>
              <a:t>• Mù mờ về điểm mục tiêu GPA: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Sinh viên không biết cần học bao nhiêu tín chỉ, bao nhiêu điểm A để đạt học bổng hoặc gỡ điểm các môn C/D/F.</a:t>
            </a:r>
          </a:p>
          <a:p>
            <a:pPr>
              <a:spcBef>
                <a:spcPts val="800"/>
              </a:spcBef>
              <a:defRPr sz="1100" b="1">
                <a:solidFill>
                  <a:srgbClr val="1A1F2C"/>
                </a:solidFill>
              </a:defRPr>
            </a:pPr>
            <a:r>
              <a:t>• Ứng dụng chạy chậm, cồng kềnh: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Nhiều phần mềm desktop mở mất 15-20s, tốn dung lượng và không hoạt động được khi rớt mạng.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5F8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83E8C"/>
                </a:solidFill>
              </a:defRPr>
            </a:pPr>
            <a:r>
              <a:t>✨ 4 TRỤ CỘT ĐỘT PHÁ CỦA HỆ THỐNG 3TG</a:t>
            </a:r>
          </a:p>
          <a:p>
            <a:pPr>
              <a:spcBef>
                <a:spcPts val="800"/>
              </a:spcBef>
              <a:defRPr sz="1100" b="1">
                <a:solidFill>
                  <a:srgbClr val="FF5C8D"/>
                </a:solidFill>
              </a:defRPr>
            </a:pPr>
            <a:r>
              <a:t>★ Gamification Core Duolingo:</a:t>
            </a:r>
          </a:p>
          <a:p>
            <a:pPr>
              <a:defRPr sz="1000">
                <a:solidFill>
                  <a:srgbClr val="1A1F2C"/>
                </a:solidFill>
              </a:defRPr>
            </a:pPr>
            <a:r>
              <a:t>Cây bài học uốn lượn, Trái tim, XP, Đá quý, Streak, Bùa đóng băng &amp; Mascot Thỏ 7 Màu tương tác.</a:t>
            </a:r>
          </a:p>
          <a:p>
            <a:pPr>
              <a:spcBef>
                <a:spcPts val="800"/>
              </a:spcBef>
              <a:defRPr sz="1100" b="1">
                <a:solidFill>
                  <a:srgbClr val="FF5C8D"/>
                </a:solidFill>
              </a:defRPr>
            </a:pPr>
            <a:r>
              <a:t>★ Hệ sinh thái Cổng trường IU CMCU:</a:t>
            </a:r>
          </a:p>
          <a:p>
            <a:pPr>
              <a:defRPr sz="1000">
                <a:solidFill>
                  <a:srgbClr val="1A1F2C"/>
                </a:solidFill>
              </a:defRPr>
            </a:pPr>
            <a:r>
              <a:t>Đăng nhập 1-Click Office 365, bóc tách tự động bảng điểm và lịch học 6 tuần không cần nhập tay.</a:t>
            </a:r>
          </a:p>
          <a:p>
            <a:pPr>
              <a:spcBef>
                <a:spcPts val="800"/>
              </a:spcBef>
              <a:defRPr sz="1100" b="1">
                <a:solidFill>
                  <a:srgbClr val="FF5C8D"/>
                </a:solidFill>
              </a:defRPr>
            </a:pPr>
            <a:r>
              <a:t>★ Cố vấn 3TG AI &amp; Target GPA:</a:t>
            </a:r>
          </a:p>
          <a:p>
            <a:pPr>
              <a:defRPr sz="1000">
                <a:solidFill>
                  <a:srgbClr val="1A1F2C"/>
                </a:solidFill>
              </a:defRPr>
            </a:pPr>
            <a:r>
              <a:t>Phân tích điểm thi, chỉ ra hòn đá tảng kéo điểm, lập lộ trình ôn thi với hiệu ứng đánh máy Typewriter mượt mà.</a:t>
            </a:r>
          </a:p>
          <a:p>
            <a:pPr>
              <a:spcBef>
                <a:spcPts val="800"/>
              </a:spcBef>
              <a:defRPr sz="1100" b="1">
                <a:solidFill>
                  <a:srgbClr val="FF5C8D"/>
                </a:solidFill>
              </a:defRPr>
            </a:pPr>
            <a:r>
              <a:t>★ Desktop Tối Ưu Mở Nhanh 1-2s:</a:t>
            </a:r>
          </a:p>
          <a:p>
            <a:pPr>
              <a:defRPr sz="1000">
                <a:solidFill>
                  <a:srgbClr val="1A1F2C"/>
                </a:solidFill>
              </a:defRPr>
            </a:pPr>
            <a:r>
              <a:t>Đóng gói ASAR nhị phân loại bỏ lag do quét antivirus, tích hợp SQLite offline replica hoạt động mọi lúc.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3E8C"/>
                </a:solidFill>
              </a:defRPr>
            </a:pPr>
            <a:r>
              <a:t>🌸 TONE PINK · BÁO CÁO TỔNG KẾT ĐỒ ÁN CNPM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F2C"/>
                </a:solidFill>
              </a:defRPr>
            </a:pPr>
            <a:r>
              <a:t>Lộ Trình Quản Trị Agile/Scrum Qua 3 Sprint Chuẩn Mực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28416" cy="1097280"/>
          </a:xfrm>
          <a:prstGeom prst="roundRect">
            <a:avLst/>
          </a:prstGeom>
          <a:solidFill>
            <a:srgbClr val="FF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05409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3E8C"/>
                </a:solidFill>
              </a:defRPr>
            </a:pPr>
            <a:r>
              <a:t>SPRINT 1 (TUẦN 1 - 3)</a:t>
            </a:r>
          </a:p>
          <a:p>
            <a:pPr>
              <a:defRPr sz="1300" b="1">
                <a:solidFill>
                  <a:srgbClr val="1A1F2C"/>
                </a:solidFill>
              </a:defRPr>
            </a:pPr>
            <a:r>
              <a:t>Nền Tảng Gamification &amp; Core Duolingo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51760"/>
            <a:ext cx="2286000" cy="320040"/>
          </a:xfrm>
          <a:prstGeom prst="roundRect">
            <a:avLst/>
          </a:prstGeom>
          <a:solidFill>
            <a:srgbClr val="FFF5F8"/>
          </a:solidFill>
          <a:ln w="19050">
            <a:solidFill>
              <a:srgbClr val="E83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83E8C"/>
                </a:solidFill>
              </a:defRPr>
            </a:pPr>
            <a:r>
              <a:t>9 Issues · Done 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305409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</a:defRPr>
            </a:pPr>
            <a:r>
              <a:t>• CSDL quan hệ chuẩn 3NF trên Cloudflare D1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</a:defRPr>
            </a:pPr>
            <a:r>
              <a:t>• Lộ trình cây bài học Duolingo uốn lượn SVG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</a:defRPr>
            </a:pPr>
            <a:r>
              <a:t>• Làm trắc nghiệm tương tác &amp; Âm thanh Web Audio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</a:defRPr>
            </a:pPr>
            <a:r>
              <a:t>• Hệ thống Trái tim, XP thưởng &amp; Đá quý tân thủ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</a:defRPr>
            </a:pPr>
            <a:r>
              <a:t>• Chuỗi ngày học Streak &amp; Bùa đóng băng chuỗi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</a:defRPr>
            </a:pPr>
            <a:r>
              <a:t>• Mascot Thỏ Bảy Màu biểu cảm động viên học tập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</a:defRPr>
            </a:pPr>
            <a:r>
              <a:t>• Cửa hàng vật phẩm &amp; Bảng xếp hạng tuần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</a:defRPr>
            </a:pPr>
            <a:r>
              <a:t>• Xác thực phiên bảo mật Cookie SHA-256 + Salt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328416" cy="1097280"/>
          </a:xfrm>
          <a:prstGeom prst="roundRect">
            <a:avLst/>
          </a:prstGeom>
          <a:solidFill>
            <a:srgbClr val="FF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05409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B5CF6"/>
                </a:solidFill>
              </a:defRPr>
            </a:pPr>
            <a:r>
              <a:t>SPRINT 2 (TUẦN 4 - 6)</a:t>
            </a:r>
          </a:p>
          <a:p>
            <a:pPr>
              <a:defRPr sz="1300" b="1">
                <a:solidFill>
                  <a:srgbClr val="1A1F2C"/>
                </a:solidFill>
              </a:defRPr>
            </a:pPr>
            <a:r>
              <a:t>Cổng Trường IU, 3TG AI &amp; Mạng Xã Hội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651760"/>
            <a:ext cx="2286000" cy="320040"/>
          </a:xfrm>
          <a:prstGeom prst="roundRect">
            <a:avLst/>
          </a:prstGeom>
          <a:solidFill>
            <a:srgbClr val="FFF5F8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6517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</a:defRPr>
            </a:pPr>
            <a:r>
              <a:t>8 Issues · Done 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063240"/>
            <a:ext cx="305409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</a:defRPr>
            </a:pPr>
            <a:r>
              <a:t>• Đăng nhập 1-Click Cổng trường IU qua Office 365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</a:defRPr>
            </a:pPr>
            <a:r>
              <a:t>• Bóc tách tự động bảng điểm &amp; thời khóa biểu 6 tuần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</a:defRPr>
            </a:pPr>
            <a:r>
              <a:t>• Thuật toán tính GPA thang 10 &amp; 4 (28 TC chuẩn 2.73)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</a:defRPr>
            </a:pPr>
            <a:r>
              <a:t>• Trợ lý 3TG AI phân tích ma trận điểm &amp; Target GPA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</a:defRPr>
            </a:pPr>
            <a:r>
              <a:t>• Mạng xã hội học tập: Kết bạn theo MSSV &amp; Profile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</a:defRPr>
            </a:pPr>
            <a:r>
              <a:t>• Khung chat trò chuyện 1-1 realtime giữa bạn bè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</a:defRPr>
            </a:pPr>
            <a:r>
              <a:t>• Kho Khung Avatar động VIP &amp; 14 Hình nền R2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</a:defRPr>
            </a:pPr>
            <a:r>
              <a:t>• Chế độ tối Midnight Velvet Dark Mode bảo vệ mắt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46720" y="1463040"/>
            <a:ext cx="3328416" cy="1097280"/>
          </a:xfrm>
          <a:prstGeom prst="roundRect">
            <a:avLst/>
          </a:prstGeom>
          <a:solidFill>
            <a:srgbClr val="FF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80" y="1554480"/>
            <a:ext cx="305409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SPRINT 3 (TUẦN 7 - 8)</a:t>
            </a:r>
          </a:p>
          <a:p>
            <a:pPr>
              <a:defRPr sz="1300" b="1">
                <a:solidFill>
                  <a:srgbClr val="1A1F2C"/>
                </a:solidFill>
              </a:defRPr>
            </a:pPr>
            <a:r>
              <a:t>Tổng Kết, Đóng Gói Desktop &amp; Release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651760"/>
            <a:ext cx="2286000" cy="320040"/>
          </a:xfrm>
          <a:prstGeom prst="roundRect">
            <a:avLst/>
          </a:prstGeom>
          <a:solidFill>
            <a:srgbClr val="FFF5F8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26517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7 Issues · Done 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3063240"/>
            <a:ext cx="305409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</a:defRPr>
            </a:pPr>
            <a:r>
              <a:t>• Đóng gói Desktop v9.9.9 tối ưu mở tức thì 1-2 giây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</a:defRPr>
            </a:pPr>
            <a:r>
              <a:t>• Nén ASAR nhị phân &amp; Cấu hình asarUnpack chính xác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</a:defRPr>
            </a:pPr>
            <a:r>
              <a:t>• Single Instance Lock chống mở trùng nhiều cửa sổ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</a:defRPr>
            </a:pPr>
            <a:r>
              <a:t>• Cố vấn AI hiệu ứng đánh máy Typewriter streaming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</a:defRPr>
            </a:pPr>
            <a:r>
              <a:t>• Bổ sung tùy chọn Khung &amp; Nền mặc định khôi phục gốc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</a:defRPr>
            </a:pPr>
            <a:r>
              <a:t>• Phân quyền API tuyệt đối (requireUser, chặn IDOR)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</a:defRPr>
            </a:pPr>
            <a:r>
              <a:t>• Xuất bản bộ cài đặt Setup NSIS + Portable (.exe)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</a:defRPr>
            </a:pPr>
            <a:r>
              <a:t>• Hoàn thiện Báo cáo Word &amp; Slide PPTX bảo vệ đồ án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3E8C"/>
                </a:solidFill>
              </a:defRPr>
            </a:pPr>
            <a:r>
              <a:t>🌸 TONE PINK · BÁO CÁO TỔNG KẾT ĐỒ ÁN CNPM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F2C"/>
                </a:solidFill>
              </a:defRPr>
            </a:pPr>
            <a:r>
              <a:t>Kiến Trúc Hệ Thống: Hybrid Edge Serverless &amp; Desktop Client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5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5C8D"/>
                </a:solidFill>
              </a:defRPr>
            </a:pPr>
            <a:r>
              <a:t>⚡ LỚP CLIENT DESKTOP (ELECTRON 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defRPr sz="1050">
                <a:solidFill>
                  <a:srgbClr val="1A1F2C"/>
                </a:solidFill>
              </a:defRPr>
            </a:pPr>
            <a:r>
              <a:t>✓ Giao diện Vanilla HTML5/CSS3/ES6, không nặng nề như SPA framework.</a:t>
            </a:r>
          </a:p>
          <a:p>
            <a:pPr>
              <a:spcBef>
                <a:spcPts val="300"/>
              </a:spcBef>
              <a:defRPr sz="1050">
                <a:solidFill>
                  <a:srgbClr val="1A1F2C"/>
                </a:solidFill>
              </a:defRPr>
            </a:pPr>
            <a:r>
              <a:t>✓ Tích hợp Embedded Engine nội bộ, Single Instance Lock, nén ASAR mở app trong 1-2s.</a:t>
            </a:r>
          </a:p>
          <a:p>
            <a:pPr>
              <a:spcBef>
                <a:spcPts val="300"/>
              </a:spcBef>
              <a:defRPr sz="1050">
                <a:solidFill>
                  <a:srgbClr val="1A1F2C"/>
                </a:solidFill>
              </a:defRPr>
            </a:pPr>
            <a:r>
              <a:t>✓ Khả năng tự động đồng bộ hai chiều giữa Cloud và Local Storage.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B5CF6"/>
                </a:solidFill>
              </a:defRPr>
            </a:pPr>
            <a:r>
              <a:t>⚡ LỚP EDGE GATEWAY (CLOUDFLARE WORKERS)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574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defRPr sz="1050">
                <a:solidFill>
                  <a:srgbClr val="1A1F2C"/>
                </a:solidFill>
              </a:defRPr>
            </a:pPr>
            <a:r>
              <a:t>✓ Xử lý logic API phân tán tại hơn 300 Pop toàn cầu, độ trễ phản hồi &lt;35ms.</a:t>
            </a:r>
          </a:p>
          <a:p>
            <a:pPr>
              <a:spcBef>
                <a:spcPts val="300"/>
              </a:spcBef>
              <a:defRPr sz="1050">
                <a:solidFill>
                  <a:srgbClr val="1A1F2C"/>
                </a:solidFill>
              </a:defRPr>
            </a:pPr>
            <a:r>
              <a:t>✓ Xác thực Session Token bảo mật, kiểm soát phân quyền người dùng.</a:t>
            </a:r>
          </a:p>
          <a:p>
            <a:pPr>
              <a:spcBef>
                <a:spcPts val="300"/>
              </a:spcBef>
              <a:defRPr sz="1050">
                <a:solidFill>
                  <a:srgbClr val="1A1F2C"/>
                </a:solidFill>
              </a:defRPr>
            </a:pPr>
            <a:r>
              <a:t>✓ Điều phối luồng dữ liệu học vụ, chấm điểm trắc nghiệm và kết nối 3TG 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⚡ LỚP CƠ SỞ DỮ LIỆU &amp; STORAGE PHÂN TÁN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defRPr sz="1050">
                <a:solidFill>
                  <a:srgbClr val="1A1F2C"/>
                </a:solidFill>
              </a:defRPr>
            </a:pPr>
            <a:r>
              <a:t>✓ Cloudflare D1: SQLite phân tán lưu trữ CSDL 3NF (10 môn, 30.000 câu hỏi trắc nghiệm).</a:t>
            </a:r>
          </a:p>
          <a:p>
            <a:pPr>
              <a:spcBef>
                <a:spcPts val="300"/>
              </a:spcBef>
              <a:defRPr sz="1050">
                <a:solidFill>
                  <a:srgbClr val="1A1F2C"/>
                </a:solidFill>
              </a:defRPr>
            </a:pPr>
            <a:r>
              <a:t>✓ Cloudflare R2: Lưu trữ hình nền độ phân giải cao và asset không tốn chi phí băng thông.</a:t>
            </a:r>
          </a:p>
          <a:p>
            <a:pPr>
              <a:spcBef>
                <a:spcPts val="300"/>
              </a:spcBef>
              <a:defRPr sz="1050">
                <a:solidFill>
                  <a:srgbClr val="1A1F2C"/>
                </a:solidFill>
              </a:defRPr>
            </a:pPr>
            <a:r>
              <a:t>✓ Local SQLite Replica: Fallback tự động khi mất mạng, đảm bảo học tập không ngắt quãng.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⚡ LỚP LIÊN KẾT NGOÀI &amp; DỊCH VỤ THÔNG MINH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262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defRPr sz="1050">
                <a:solidFill>
                  <a:srgbClr val="1A1F2C"/>
                </a:solidFill>
              </a:defRPr>
            </a:pPr>
            <a:r>
              <a:t>✓ Cổng trường IU CMCU Bridge: Bóc tách dữ liệu ASP.NET_SessionId từ Microsoft 365.</a:t>
            </a:r>
          </a:p>
          <a:p>
            <a:pPr>
              <a:spcBef>
                <a:spcPts val="300"/>
              </a:spcBef>
              <a:defRPr sz="1050">
                <a:solidFill>
                  <a:srgbClr val="1A1F2C"/>
                </a:solidFill>
              </a:defRPr>
            </a:pPr>
            <a:r>
              <a:t>✓ Trợ lý 3TG AI: Mô hình ngôn ngữ tự nhiên phân tích GPA và lên cẩm nang học tập.</a:t>
            </a:r>
          </a:p>
          <a:p>
            <a:pPr>
              <a:spcBef>
                <a:spcPts val="300"/>
              </a:spcBef>
              <a:defRPr sz="1050">
                <a:solidFill>
                  <a:srgbClr val="1A1F2C"/>
                </a:solidFill>
              </a:defRPr>
            </a:pPr>
            <a:r>
              <a:t>✓ Web Audio Chimes: Hệ thống âm thanh vòm sinh động phản hồi thao tác học viên.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3E8C"/>
                </a:solidFill>
              </a:defRPr>
            </a:pPr>
            <a:r>
              <a:t>🌸 TONE PINK · BÁO CÁO TỔNG KẾT ĐỒ ÁN CNPM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F2C"/>
                </a:solidFill>
              </a:defRPr>
            </a:pPr>
            <a:r>
              <a:t>Thiết Kế Cơ Sở Dữ Liệu Quan Hệ Chuẩn Hóa 3NF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011680" cy="1005840"/>
          </a:xfrm>
          <a:prstGeom prst="roundRect">
            <a:avLst/>
          </a:prstGeom>
          <a:solidFill>
            <a:srgbClr val="FFE4EE"/>
          </a:solidFill>
          <a:ln w="19050">
            <a:solidFill>
              <a:srgbClr val="E83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5C8D"/>
                </a:solidFill>
              </a:defRPr>
            </a:pPr>
            <a:r>
              <a:t>14 BẢNG DỮ LIỆU</a:t>
            </a:r>
          </a:p>
          <a:p>
            <a:pPr algn="ctr">
              <a:defRPr sz="900">
                <a:solidFill>
                  <a:srgbClr val="1A1F2C"/>
                </a:solidFill>
              </a:defRPr>
            </a:pPr>
            <a:r>
              <a:t>Chuẩn 3NF không dư thừa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463040"/>
            <a:ext cx="2011680" cy="1005840"/>
          </a:xfrm>
          <a:prstGeom prst="roundRect">
            <a:avLst/>
          </a:prstGeom>
          <a:solidFill>
            <a:srgbClr val="FFE4EE"/>
          </a:solidFill>
          <a:ln w="19050">
            <a:solidFill>
              <a:srgbClr val="E83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26080" y="150876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5C8D"/>
                </a:solidFill>
              </a:defRPr>
            </a:pPr>
            <a:r>
              <a:t>10 MÔN HỌC CNTT</a:t>
            </a:r>
          </a:p>
          <a:p>
            <a:pPr algn="ctr">
              <a:defRPr sz="900">
                <a:solidFill>
                  <a:srgbClr val="1A1F2C"/>
                </a:solidFill>
              </a:defRPr>
            </a:pPr>
            <a:r>
              <a:t>Toán rời rạc, CSDL, C++...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463040"/>
            <a:ext cx="2011680" cy="1005840"/>
          </a:xfrm>
          <a:prstGeom prst="roundRect">
            <a:avLst/>
          </a:prstGeom>
          <a:solidFill>
            <a:srgbClr val="FFE4EE"/>
          </a:solidFill>
          <a:ln w="19050">
            <a:solidFill>
              <a:srgbClr val="E83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20640" y="150876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5C8D"/>
                </a:solidFill>
              </a:defRPr>
            </a:pPr>
            <a:r>
              <a:t>106 CHƯƠNG HỌC</a:t>
            </a:r>
          </a:p>
          <a:p>
            <a:pPr algn="ctr">
              <a:defRPr sz="900">
                <a:solidFill>
                  <a:srgbClr val="1A1F2C"/>
                </a:solidFill>
              </a:defRPr>
            </a:pPr>
            <a:r>
              <a:t>Phân cấp Unit khoa học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9" y="1463040"/>
            <a:ext cx="2011680" cy="1005840"/>
          </a:xfrm>
          <a:prstGeom prst="roundRect">
            <a:avLst/>
          </a:prstGeom>
          <a:solidFill>
            <a:srgbClr val="FFE4EE"/>
          </a:solidFill>
          <a:ln w="19050">
            <a:solidFill>
              <a:srgbClr val="E83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199" y="150876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5C8D"/>
                </a:solidFill>
              </a:defRPr>
            </a:pPr>
            <a:r>
              <a:t>4.000+ BÀI HỌC</a:t>
            </a:r>
          </a:p>
          <a:p>
            <a:pPr algn="ctr">
              <a:defRPr sz="900">
                <a:solidFill>
                  <a:srgbClr val="1A1F2C"/>
                </a:solidFill>
              </a:defRPr>
            </a:pPr>
            <a:r>
              <a:t>Lộ trình uốn lượn SVG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463040"/>
            <a:ext cx="2011680" cy="1005840"/>
          </a:xfrm>
          <a:prstGeom prst="roundRect">
            <a:avLst/>
          </a:prstGeom>
          <a:solidFill>
            <a:srgbClr val="FFE4EE"/>
          </a:solidFill>
          <a:ln w="19050">
            <a:solidFill>
              <a:srgbClr val="E83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09760" y="150876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5C8D"/>
                </a:solidFill>
              </a:defRPr>
            </a:pPr>
            <a:r>
              <a:t>~30.000 CÂU HỎI</a:t>
            </a:r>
          </a:p>
          <a:p>
            <a:pPr algn="ctr">
              <a:defRPr sz="900">
                <a:solidFill>
                  <a:srgbClr val="1A1F2C"/>
                </a:solidFill>
              </a:defRPr>
            </a:pPr>
            <a:r>
              <a:t>Trắc nghiệm 4 đáp án &amp; giải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43200"/>
            <a:ext cx="52120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8346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3E8C"/>
                </a:solidFill>
              </a:defRPr>
            </a:pPr>
            <a:r>
              <a:t>1. NHÓM TÀI KHOẢN &amp; HỌC VIÊN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• accounts: user_id (PK), username, password_hash SHA-256 + Salt.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• profiles: full_name, bio, school, major, avatar_decoration, cover_url.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• user_stats: total_xp, current_streak, longest_streak, hearts, gems.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2120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28346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3E8C"/>
                </a:solidFill>
              </a:defRPr>
            </a:pPr>
            <a:r>
              <a:t>2. NHÓM LỘ TRÌNH &amp; HỌC LIỆU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• subjects: id (PK), subject_code, subject_name, icon.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• units: id (PK), subject_id (FK), unit_name, order_index.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• lessons: id (PK), unit_id (FK), title, order_index, status.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• questions: id (PK), lesson_id (FK), question, options, correct_answer.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52120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3E8C"/>
                </a:solidFill>
              </a:defRPr>
            </a:pPr>
            <a:r>
              <a:t>3. NHÓM MẠNG XÃ HỘI &amp; VẬT PHẨM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• user_inventory: user_id (FK), item_code, quantity.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• friendships: user_id (FK), friend_id (FK), status accepted.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• direct_messages: sender_id (FK), receiver_id (FK), message, is_read.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• weekly_leaderboards: user_id (FK), weekly_xp, league_name.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572000"/>
            <a:ext cx="52120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46634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3E8C"/>
                </a:solidFill>
              </a:defRPr>
            </a:pPr>
            <a:r>
              <a:t>4. NHÓM BẢNG ĐIỂM CỔNG TRƯỜNG IU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• user_academic_transcripts: user_id (PK), student_code, full_name, major, gpa_10, gpa_4, total_credits, raw_data JSON, ai_analysis TEXT, target_gpa REAL, last_synced_at.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3E8C"/>
                </a:solidFill>
              </a:defRPr>
            </a:pPr>
            <a:r>
              <a:t>🌸 TONE PINK · BÁO CÁO TỔNG KẾT ĐỒ ÁN CNPM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F2C"/>
                </a:solidFill>
              </a:defRPr>
            </a:pPr>
            <a:r>
              <a:t>🌸 Sprint 1: Lộ Trình Duolingo Path &amp; Trắc Nghiệm Tương Tác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C8D"/>
                </a:solidFill>
              </a:defRPr>
            </a:pPr>
            <a:r>
              <a:t>CÂY LỘ TRÌNH UỐN LƯỢN SVG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Vẽ lộ trình học uốn lượn mềm mại dạng sóng sin SVG phong cách Duolingo.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Thuật toán kiểm tra bài học tiên quyết: Chỉ mở bài tiếp theo khi bài trước đã hoàn thành.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Hiển thị huy hiệu vương miện và sao vàng khi vượt ải bài học.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C8D"/>
                </a:solidFill>
              </a:defRPr>
            </a:pPr>
            <a:r>
              <a:t>MÀN HÌNH LÀM TRẮC NGHIỆM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Trắc nghiệm tương tác với 4 phương án A, B, C, D trực quan.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Cơ chế chấm điểm tức thì trên Client và Serverless Edge.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Giải thích cặn kẽ vì sao đáp án đúng, giúp người học khắc sâu kiến thức ngay tại chỗ.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C8D"/>
                </a:solidFill>
              </a:defRPr>
            </a:pPr>
            <a:r>
              <a:t>ÂM THANH PHẢN HỒI WEB AUDIO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Tích hợp Web Audio API phát âm thanh vòm chuẩn nhạc lý không cần tệp mp3 ngoài.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Hợp âm D5/A5 tươi sáng khi chọn đáp án chính xác.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Hợp âm cảnh báo khi trả lời sai và khúc khải hoàn Fanfare khi vượt ải thành công.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3E8C"/>
                </a:solidFill>
              </a:defRPr>
            </a:pPr>
            <a:r>
              <a:t>🌸 TONE PINK · BÁO CÁO TỔNG KẾT ĐỒ ÁN CNPM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F2C"/>
                </a:solidFill>
              </a:defRPr>
            </a:pPr>
            <a:r>
              <a:t>🌸 Sprint 1: Cơ Chế Game Hóa (Gamification) Đột Phá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83E8C"/>
                </a:solidFill>
              </a:defRPr>
            </a:pPr>
            <a:r>
              <a:t>❤️ TRÁI TIM NĂNG LƯỢNG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Khống chế 5 tim năng lượng. Trả lời sai trừ 1 tim. Tạo áp lực tích cực buộc người học suy nghĩ kỹ trước khi chọn.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28416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29626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83E8C"/>
                </a:solidFill>
              </a:defRPr>
            </a:pPr>
            <a:r>
              <a:t>⭐ ĐIỂM KINH NGHIỆM XP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Mỗi bài học hoàn thành thưởng 10-30 XP. Tích lũy XP để thăng hạng trong giải đấu tuần Bronze/Silver/Gold.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28416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29626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83E8C"/>
                </a:solidFill>
              </a:defRPr>
            </a:pPr>
            <a:r>
              <a:t>💎 ĐÁ QUÝ (GEMS)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Tặng 50 Đá quý tân thủ và thưởng đá quý khi vượt ải. Dùng đá quý mua bùa học tập và trang trí tài khoản.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3328416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29626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83E8C"/>
                </a:solidFill>
              </a:defRPr>
            </a:pPr>
            <a:r>
              <a:t>🔥 CHUỖI NGÀY HỌC STREAK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Ghi nhận số ngày học liên tiếp theo múi giờ Việt Nam. Hình thành thói quen rèn luyện mỗi ngày không đứt đoạn.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931920"/>
            <a:ext cx="3328416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4114800"/>
            <a:ext cx="29626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83E8C"/>
                </a:solidFill>
              </a:defRPr>
            </a:pPr>
            <a:r>
              <a:t>🧊 ĐÓNG BĂNG CHUỖI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Bùa Streak Freeze trong cửa hàng tự động kích hoạt bảo vệ ngọn lửa Streak khi học viên có ngày nghỉ đột xuất.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931920"/>
            <a:ext cx="3328416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4114800"/>
            <a:ext cx="29626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83E8C"/>
                </a:solidFill>
              </a:defRPr>
            </a:pPr>
            <a:r>
              <a:t>🐰 MASCOT THỎ BẢY MÀU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Linh vật Thỏ Bảy Màu độc quyền với biểu cảm động: Vỗ tay, học bài bên laptop, bất ngờ cà rốt, động viên học viên.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3E8C"/>
                </a:solidFill>
              </a:defRPr>
            </a:pPr>
            <a:r>
              <a:t>🌸 TONE PINK · BÁO CÁO TỔNG KẾT ĐỒ ÁN CNPM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F2C"/>
                </a:solidFill>
              </a:defRPr>
            </a:pPr>
            <a:r>
              <a:t>🚀 Sprint 2: Đột Phá Đăng Nhập 1-Click Cổng Trường IU CMCU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563EB"/>
                </a:solidFill>
              </a:defRPr>
            </a:pPr>
            <a:r>
              <a:t>🔐 ĐĂNG NHẬP 1-CLICK MICROSOFT 365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Mở popup SSO Microsoft của trường trực tiếp trong ứng dụng Desktop.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Tự động bắt cookie phiên ASP.NET_SessionId sau khi đăng nhập thành công.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Tự động đóng popup, hoàn toàn không bắt sinh viên copy cookie hay nhập mật khẩu thủ công.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563EB"/>
                </a:solidFill>
              </a:defRPr>
            </a:pPr>
            <a:r>
              <a:t>📊 BÓC TÁCH BẢNG ĐIỂM TOÀN KHÓA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Giải mã API nội bộ trường qua thuật toán XOR key IM_MAC_DINH AzzSystem.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Bóc tách điểm chuyên cần, giữa kỳ, thi kết thúc học phần, điểm hệ 10, hệ 4 và điểm chữ.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Phân loại chuẩn xác các môn học lại, cập nhật điểm cao nhất theo quy chế tín chỉ.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563EB"/>
                </a:solidFill>
              </a:defRPr>
            </a:pPr>
            <a:r>
              <a:t>📅 BÓC TÁCH THỜI KHÓA BIỂU 6 TUẦN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Thu thập lịch học từ 2 tuần trước đến 4 tuần tiếp theo trong kỳ học hiện tại.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Nhận diện tức thì các môn học viên đang học ở kỳ này để ưu tiên ôn luyện.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Đồng bộ toàn bộ dữ liệu thật vào Cloudflare D1 và Local SQLite cache.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3E8C"/>
                </a:solidFill>
              </a:defRPr>
            </a:pPr>
            <a:r>
              <a:t>🌸 TONE PINK · BÁO CÁO TỔNG KẾT ĐỒ ÁN CNPM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F2C"/>
                </a:solidFill>
              </a:defRPr>
            </a:pPr>
            <a:r>
              <a:t>🚀 Sprint 2: Thuật Toán GPA &amp; Trợ Lý Cố Vấn 3TG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C8D"/>
                </a:solidFill>
              </a:defRPr>
            </a:pPr>
            <a:r>
              <a:t>📐 THUẬT TOÁN GPA CHUẨN QUY CHẾ TÍN CHỈ</a:t>
            </a:r>
          </a:p>
          <a:p>
            <a:pPr>
              <a:spcBef>
                <a:spcPts val="800"/>
              </a:spcBef>
              <a:defRPr sz="1100" b="1">
                <a:solidFill>
                  <a:srgbClr val="1A1F2C"/>
                </a:solidFill>
              </a:defRPr>
            </a:pPr>
            <a:r>
              <a:t>• Công thức tính trọng số tín chỉ: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GPA = (Tổng Điểm môn * Số tín chỉ) / Tổng số tín chỉ tích lũy. Tính toán đồng thời cả thang 10 và thang 4.</a:t>
            </a:r>
          </a:p>
          <a:p>
            <a:pPr>
              <a:spcBef>
                <a:spcPts val="800"/>
              </a:spcBef>
              <a:defRPr sz="1100" b="1">
                <a:solidFill>
                  <a:srgbClr val="1A1F2C"/>
                </a:solidFill>
              </a:defRPr>
            </a:pPr>
            <a:r>
              <a:t>• Dữ liệu thực nghiệm kiểm chứng: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Bảng điểm thực tế 28 tín chỉ đạt GPA 2.73 (thang 4) và 6.99 (thang 10), chuẩn khớp 100% với cổng trường IU.</a:t>
            </a:r>
          </a:p>
          <a:p>
            <a:pPr>
              <a:spcBef>
                <a:spcPts val="800"/>
              </a:spcBef>
              <a:defRPr sz="1100" b="1">
                <a:solidFill>
                  <a:srgbClr val="1A1F2C"/>
                </a:solidFill>
              </a:defRPr>
            </a:pPr>
            <a:r>
              <a:t>• Bộ lọc môn kéo điểm (Hòn đá tảng):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Tự động phân loại học lực (Khá/Giỏi) và liệt kê danh sách các môn điểm C, D, F cần ưu tiên học cải thiện điểm.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5F8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t>🤖 TRỢ LÝ CỐ VẤN HỌC THUẬT 3TG AI</a:t>
            </a:r>
          </a:p>
          <a:p>
            <a:pPr>
              <a:spcBef>
                <a:spcPts val="600"/>
              </a:spcBef>
              <a:defRPr sz="1100" b="1">
                <a:solidFill>
                  <a:srgbClr val="1A1F2C"/>
                </a:solidFill>
              </a:defRPr>
            </a:pPr>
            <a:r>
              <a:t>★ Phân tích ma trận kết quả học tập: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AI rà soát từng môn học, phân tích phổ điểm quá trình và điểm thi để tìm ra lỗ hổng kiến thức.</a:t>
            </a:r>
          </a:p>
          <a:p>
            <a:pPr>
              <a:spcBef>
                <a:spcPts val="600"/>
              </a:spcBef>
              <a:defRPr sz="1100" b="1">
                <a:solidFill>
                  <a:srgbClr val="1A1F2C"/>
                </a:solidFill>
              </a:defRPr>
            </a:pPr>
            <a:r>
              <a:t>★ Lập kế hoạch mục tiêu Target GPA: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Tính toán mục tiêu thực tế (3.2 Giỏi, 3.6 Xuất sắc, 4.0 Tuyệt đối) cần đạt bao nhiêu điểm A trong kỳ kế tiếp.</a:t>
            </a:r>
          </a:p>
          <a:p>
            <a:pPr>
              <a:spcBef>
                <a:spcPts val="600"/>
              </a:spcBef>
              <a:defRPr sz="1100" b="1">
                <a:solidFill>
                  <a:srgbClr val="1A1F2C"/>
                </a:solidFill>
              </a:defRPr>
            </a:pPr>
            <a:r>
              <a:t>★ Cẩm nang săn điểm A từng môn: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Đưa ra bí kíp ôn thi thực chiến, cạm bẫy dễ mất điểm và các chủ đề trọng tâm chắc chắn xuất hiện trong đề thi.</a:t>
            </a:r>
          </a:p>
          <a:p>
            <a:pPr>
              <a:spcBef>
                <a:spcPts val="600"/>
              </a:spcBef>
              <a:defRPr sz="1100" b="1">
                <a:solidFill>
                  <a:srgbClr val="1A1F2C"/>
                </a:solidFill>
              </a:defRPr>
            </a:pPr>
            <a:r>
              <a:t>★ Hiệu ứng đánh máy Typewriter: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Kết quả tư duy hiển thị theo hiệu ứng gõ chữ mượt mà từng từ kèm con trỏ nhấp nháy, trải nghiệm như trò chuyện trực tiếp.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3E8C"/>
                </a:solidFill>
              </a:defRPr>
            </a:pPr>
            <a:r>
              <a:t>🌸 TONE PINK · BÁO CÁO TỔNG KẾT ĐỒ ÁN CNPM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F2C"/>
                </a:solidFill>
              </a:defRPr>
            </a:pPr>
            <a:r>
              <a:t>🚀 Sprint 2: Mạng Xã Hội Học Tập &amp; Khung Chat 1-1 Realtime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C8D"/>
                </a:solidFill>
              </a:defRPr>
            </a:pPr>
            <a:r>
              <a:t>👥 TÌM BẠN &amp; KẾT BẠN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Tìm kiếm bạn học nhanh chóng theo Mã sinh viên, Họ tên hoặc Lớp sinh hoạt.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Gửi và chấp nhận lời mời kết bạn tức thì.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Danh sách bạn học trực quan hiển thị tổng điểm XP và chuỗi ngày học Streak để cùng nhau thi đua.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C8D"/>
                </a:solidFill>
              </a:defRPr>
            </a:pPr>
            <a:r>
              <a:t>💬 CHAT 1-1 REALTIME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Khung trò chuyện trực tiếp 1-1 giữa bạn bè ngay trong ứng dụng.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Hỗ trợ trao đổi tài liệu, thảo luận bài tập khó và bài giải trắc nghiệm.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Lưu trữ tin nhắn bảo mật, hiển thị thời gian gửi và trạng thái đã đọc tin nhắn.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C8D"/>
                </a:solidFill>
              </a:defRPr>
            </a:pPr>
            <a:r>
              <a:t>👤 TRANG CÁ NHÂN HỌC VIÊN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Xem trang cá nhân (Public Profile) của bạn bè trong trường.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Chiêm ngưỡng cấp bậc giải đấu tuần, tủ huy hiệu thành tích và avatar trang trí.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Tăng cường tính kết nối cộng đồng sinh viên Đại học CMC.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3E8C"/>
                </a:solidFill>
              </a:defRPr>
            </a:pPr>
            <a:r>
              <a:t>🌸 TONE PINK · BÁO CÁO TỔNG KẾT ĐỒ ÁN CNPM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F2C"/>
                </a:solidFill>
              </a:defRPr>
            </a:pPr>
            <a:r>
              <a:t>🚀 Sprint 2: Khung Avatar Động, Hình Nền R2 &amp; Dark Mode Velvet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</a:defRPr>
            </a:pPr>
            <a:r>
              <a:t>🖼️ KHUNG AVATAR ĐỘNG VIP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11 khung avatar động phong cách Discord Nitro: Hoa anh đào rơi, Hỏa Long, Mecha Gundam, Hello Kitty, Cyberpunk 2077...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Hiệu ứng ánh sáng Glow và viền gradient chuyển động mượt mà bằng CSS3 keyframes.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</a:defRPr>
            </a:pPr>
            <a:r>
              <a:t>🌄 14 HÌNH NỀN PROFILE R2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Kho 14 hình nền độ phân giải cao lưu trữ trên Cloudflare R2 CDN toàn cầu.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Mở khóa bằng Đá quý kiếm được từ bài học, lưu riêng cho từng hồ sơ học viên.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Xem trước trực tiếp trên ảnh bìa trước khi quyết định mua.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</a:defRPr>
            </a:pPr>
            <a:r>
              <a:t>🌙 DARK MODE MIDNIGHT VELVET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Bảng màu đêm Midnight Velvet (#141724) sang trọng, tương phản cao, bảo vệ mắt.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Đồng bộ toàn bộ các màn hình: Cây bài học, Bảng điểm IU, Chat, Shop và Sổ tay.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Chống rung phím (debounce 450ms) không bị lỗi double click khi bấm đổi chế độ.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3E8C"/>
                </a:solidFill>
              </a:defRPr>
            </a:pPr>
            <a:r>
              <a:t>🌸 TONE PINK · BÁO CÁO TỔNG KẾT ĐỒ ÁN CNPM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F2C"/>
                </a:solidFill>
              </a:defRPr>
            </a:pPr>
            <a:r>
              <a:t>💎 Sprint 3: Đóng Gói Desktop v9.9.9 &amp; Tối Ưu Mở Nhanh 1-2s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C8D"/>
                </a:solidFill>
              </a:defRPr>
            </a:pPr>
            <a:r>
              <a:t>⚡ ĐỘT PHÁ TỐI ƯU TỐC ĐỘ MỞ APP 1 - 2 GIÂY</a:t>
            </a:r>
          </a:p>
          <a:p>
            <a:pPr>
              <a:spcBef>
                <a:spcPts val="800"/>
              </a:spcBef>
              <a:defRPr sz="1100" b="1">
                <a:solidFill>
                  <a:srgbClr val="1A1F2C"/>
                </a:solidFill>
              </a:defRPr>
            </a:pPr>
            <a:r>
              <a:t>• Nguyên nhân lag trước đây (10-20s):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Khi chưa đóng gói nén ASAR, Windows Defender quét từng file rời rạc trong hàng ngàn tệp tin JS/CSS, làm nghẽn I/O khi khởi động.</a:t>
            </a:r>
          </a:p>
          <a:p>
            <a:pPr>
              <a:spcBef>
                <a:spcPts val="800"/>
              </a:spcBef>
              <a:defRPr sz="1100" b="1">
                <a:solidFill>
                  <a:srgbClr val="1A1F2C"/>
                </a:solidFill>
              </a:defRPr>
            </a:pPr>
            <a:r>
              <a:t>• Nén nhị phân ASAR (asar: true):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Toàn bộ mã nguồn đóng gói thành 1 file nhị phân duy nhất app.asar, hệ điều hành chỉ quét đúng 1 lần, mở app tức thì.</a:t>
            </a:r>
          </a:p>
          <a:p>
            <a:pPr>
              <a:spcBef>
                <a:spcPts val="800"/>
              </a:spcBef>
              <a:defRPr sz="1100" b="1">
                <a:solidFill>
                  <a:srgbClr val="1A1F2C"/>
                </a:solidFill>
              </a:defRPr>
            </a:pPr>
            <a:r>
              <a:t>• Cấu hình asarUnpack chính xác: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Chỉ giải nén riêng CSDL local_replica.sqlite, icon và worker engine để truy cập native C++ tốc độ tối đa.</a:t>
            </a:r>
          </a:p>
          <a:p>
            <a:pPr>
              <a:spcBef>
                <a:spcPts val="800"/>
              </a:spcBef>
              <a:defRPr sz="1100" b="1">
                <a:solidFill>
                  <a:srgbClr val="1A1F2C"/>
                </a:solidFill>
              </a:defRPr>
            </a:pPr>
            <a:r>
              <a:t>• Single Instance Lock: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Ngăn người dùng nhấp đúp chuột nhiều lần làm mở trùng cửa sổ, chống đơ máy và loại bỏ xung đột cổng mạng 8787.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5F8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📦 XUẤT BẢN 2 BỘ CÀI ĐẶT WINDOWS CHÍNH THỨC</a:t>
            </a:r>
          </a:p>
          <a:p>
            <a:pPr>
              <a:spcBef>
                <a:spcPts val="1000"/>
              </a:spcBef>
              <a:defRPr sz="1100" b="1">
                <a:solidFill>
                  <a:srgbClr val="1A1F2C"/>
                </a:solidFill>
              </a:defRPr>
            </a:pPr>
            <a:r>
              <a:t>★ File Cài Đặt Setup (NSIS):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3TG Học Vui Mỗi Ngày Setup 9.9.9.exe (~111.6 MB)</a:t>
            </a:r>
            <a:br/>
            <a:r>
              <a:t>Tự động tạo shortcut Desktop, Start Menu và hỗ trợ gỡ cài đặt sạch sẽ trong Control Panel.</a:t>
            </a:r>
          </a:p>
          <a:p>
            <a:pPr>
              <a:spcBef>
                <a:spcPts val="1000"/>
              </a:spcBef>
              <a:defRPr sz="1100" b="1">
                <a:solidFill>
                  <a:srgbClr val="1A1F2C"/>
                </a:solidFill>
              </a:defRPr>
            </a:pPr>
            <a:r>
              <a:t>★ File Chạy Ngay (Portable):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3TG Học Vui Mỗi Ngày 9.9.9.exe (~111.3 MB)</a:t>
            </a:r>
            <a:br/>
            <a:r>
              <a:t>Không cần cài đặt, cắm USB là chạy ngay lập tức trên mọi máy tính Windows 10/11.</a:t>
            </a:r>
          </a:p>
          <a:p>
            <a:pPr>
              <a:spcBef>
                <a:spcPts val="1000"/>
              </a:spcBef>
              <a:defRPr sz="1100" b="1">
                <a:solidFill>
                  <a:srgbClr val="1A1F2C"/>
                </a:solidFill>
              </a:defRPr>
            </a:pPr>
            <a:r>
              <a:t>★ Kiểm thử môi trường máy tính sạch: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Đã kiểm tra khởi động trên máy tính độc lập, icon hiển thị sắc nét, CSDL SQLite tự động nạp sẵn dữ liệu không phát sinh lỗi.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3E8C"/>
                </a:solidFill>
              </a:defRPr>
            </a:pPr>
            <a:r>
              <a:t>🌸 TONE PINK · BÁO CÁO TỔNG KẾT ĐỒ ÁN CNPM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F2C"/>
                </a:solidFill>
              </a:defRPr>
            </a:pPr>
            <a:r>
              <a:t>💎 Sprint 3: Trải Nghiệm AI Typewriter &amp; Tùy Chọn Mặc Định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5C8D"/>
                </a:solidFill>
              </a:defRPr>
            </a:pPr>
            <a:r>
              <a:t>⌨️ HIỆU ỨNG GÕ CHỮ AI TYPEWRITER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Không còn bị đơ 5-6 giây rồi bung text đột ngột.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Hàm streamAdvisorResponse gõ chữ từng từ mượt mà (16ms/chunk) kèm con trỏ nhấp nháy &lt;span class="typing-cursor"&gt;&lt;/span&gt;.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Trải nghiệm như một gia sư ảo đang tận tâm viết lời khuyên cho sinh viên.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5C8D"/>
                </a:solidFill>
              </a:defRPr>
            </a:pPr>
            <a:r>
              <a:t>🎯 KHẮC PHỤC LỖI TARGET GPA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Khắc phục triệt để lỗi bấm vào nút 4.0 bị tự động gửi.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Người dùng chọn 3.2, 3.6, hoặc 4.0 chỉ kích hoạt active pill và chỉ gửi khi bấm '✨ LÊN PHƯƠNG PHÁP HỌC NGAY'.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Thêm hoạt cảnh Mascot Thỏ Bảy Màu suy nghĩ với spinner khi đang tính toán.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5C8D"/>
                </a:solidFill>
              </a:defRPr>
            </a:pPr>
            <a:r>
              <a:t>🌸 KHUNG &amp; HÌNH NỀN MẶC ĐỊNH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Bổ sung tùy chọn 'Khung Mặc Định' và 'Nền Mặc Định' trong Cửa hàng và Modal đổi ảnh bìa.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Người dùng dễ dàng khôi phục về giao diện gốc ban đầu bất kỳ lúc nào.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Loại bỏ Nitro tab khỏi Profile, tinh gọn giao diện học thuật.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3E8C"/>
                </a:solidFill>
              </a:defRPr>
            </a:pPr>
            <a:r>
              <a:t>🌸 TONE PINK · BÁO CÁO TỔNG KẾT ĐỒ ÁN CNPM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F2C"/>
                </a:solidFill>
              </a:defRPr>
            </a:pPr>
            <a:r>
              <a:t>💎 Sprint 3: Phân Quyền API &amp; Bảo Mật Mức Cao Nhất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🛡️ TRIỆT TIÊU LỖ HỔNG LEO QUYỀN IDOR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Endpoint /api/academic/import-data được bảo vệ tuyệt đối bằng requireUser(request, env).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Chặn đứng hoàn toàn việc một tài khoản chưa xác thực hoặc tài khoản khác cố tình ghi đè dữ liệu học vụ của sinh viên.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Trả về mã lỗi 401 Unauthorized ngay lập tức nếu chưa đăng nhập.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🔒 CHỐNG TẤN CÔNG SQL INJECTION 100%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Toàn bộ 100% câu truy vấn trên Cloudflare D1 và Local SQLite sử dụng cơ chế Parameterized Queries (.bind(...)).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Không có bất kỳ câu lệnh SQL nào sử dụng cộng chuỗi (string concatenation).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Miễn nhiễm trước mọi kỹ thuật SQL Injection.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🔑 BẢO MẬT PHIÊN &amp; MẬT KHẨU ĐA TẦNG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Mật khẩu được mã hóa một chiều an toàn bằng thuật toán SHA-256 kết hợp chuỗi bí mật Salt.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Cookie phiên sử dụng thuộc tính HttpOnly, Secure và SameSite=Lax chống đánh cắp token.</a:t>
            </a:r>
          </a:p>
          <a:p>
            <a:pPr>
              <a:spcBef>
                <a:spcPts val="600"/>
              </a:spcBef>
              <a:defRPr sz="1050">
                <a:solidFill>
                  <a:srgbClr val="1A1F2C"/>
                </a:solidFill>
              </a:defRPr>
            </a:pPr>
            <a:r>
              <a:t>• Tẩy sạch mọi tài khoản thử nghiệm cá nhân trong bản build release.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3E8C"/>
                </a:solidFill>
              </a:defRPr>
            </a:pPr>
            <a:r>
              <a:t>🌸 TONE PINK · BÁO CÁO TỔNG KẾT ĐỒ ÁN CNPM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F2C"/>
                </a:solidFill>
              </a:defRPr>
            </a:pPr>
            <a:r>
              <a:t>Bảng Tổng Hợp Toàn Bộ 30 Tính Năng Của Hệ Thống 3TG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28416" cy="548640"/>
          </a:xfrm>
          <a:prstGeom prst="roundRect">
            <a:avLst/>
          </a:prstGeom>
          <a:solidFill>
            <a:srgbClr val="FF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33284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E83E8C"/>
                </a:solidFill>
              </a:defRPr>
            </a:pPr>
            <a:r>
              <a:t>🌸 SPRINT 1 (12 TÍNH NĂNG)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0574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F01. CSDL Quan hệ chuẩn 3NF Cloudflare D1</a:t>
            </a:r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F02. Lộ trình cây bài học Duolingo Path SVG</a:t>
            </a:r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F03. Màn hình làm trắc nghiệm tương tác</a:t>
            </a:r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F04. Âm thanh Web Audio API phản hồi đúng/sai</a:t>
            </a:r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F05. Hệ thống Trái tim năng lượng kiểm soát lượt học</a:t>
            </a:r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F06. Điểm thưởng XP &amp; Đá quý tân thủ</a:t>
            </a:r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F07. Chuỗi ngày học liên tục Streak GMT+7</a:t>
            </a:r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F08. Bùa đóng băng chuỗi Streak Freeze</a:t>
            </a:r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F09. Mascot Thỏ Bảy Màu tương tác cảm xúc</a:t>
            </a:r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F10. Cửa hàng vật phẩm Cải thiện điểm Shop</a:t>
            </a:r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F11. Bảng xếp hạng tuần thi đua giải đấu</a:t>
            </a:r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F12. Đăng ký/đăng nhập xác thực Cookie SHA-256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28416" cy="548640"/>
          </a:xfrm>
          <a:prstGeom prst="roundRect">
            <a:avLst/>
          </a:prstGeom>
          <a:solidFill>
            <a:srgbClr val="FF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508760"/>
            <a:ext cx="33284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8B5CF6"/>
                </a:solidFill>
              </a:defRPr>
            </a:pPr>
            <a:r>
              <a:t>🚀 SPRINT 2 (13 TÍNH NĂNG)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0574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F13. Đăng nhập 1-Click Cổng trường IU Office 365</a:t>
            </a:r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F14. Bóc tách tự động bảng điểm toàn khóa</a:t>
            </a:r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F15. Bóc tách thời khóa biểu 6 tuần lịch học</a:t>
            </a:r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F16. Thuật toán GPA thang 10 &amp; 4 (28 TC GPA 2.73)</a:t>
            </a:r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F17. Bộ lọc tự động môn cần cải thiện điểm</a:t>
            </a:r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F18. Trợ lý 3TG AI phân tích hòn đá tảng GPA</a:t>
            </a:r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F19. Lập kế hoạch mục tiêu Target GPA</a:t>
            </a:r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F20. Mạng xã hội kết bạn sinh viên theo MSSV</a:t>
            </a:r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F21. Xem trang cá nhân Public Profile bạn bè</a:t>
            </a:r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F22. Khung chat trò chuyện 1-1 realtime</a:t>
            </a:r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F23. Kho Khung Avatar động VIP Discord Nitro</a:t>
            </a:r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F24. Kho 14 Hình nền Profile Cloudflare R2</a:t>
            </a:r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F25. Chế độ tối Midnight Velvet Dark Mode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328416" cy="548640"/>
          </a:xfrm>
          <a:prstGeom prst="roundRect">
            <a:avLst/>
          </a:prstGeom>
          <a:solidFill>
            <a:srgbClr val="FF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0" y="1508760"/>
            <a:ext cx="33284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💎 SPRINT 3 (5 TÍNH NĂNG)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0574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F26. Tối ưu mở nhanh 1-2 giây nén ASAR</a:t>
            </a:r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F27. Single Instance Lock chống mở trùng app</a:t>
            </a:r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F28. Cố vấn 3TG AI hiệu ứng đánh máy Typewriter</a:t>
            </a:r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F29. Tùy chọn Khung &amp; Nền mặc định khôi phục gốc</a:t>
            </a:r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F30. Phân quyền API nghiêm ngặt &amp; Bảo mật cao nhất</a:t>
            </a:r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★ Xuất bản Bộ cài đặt Setup NSIS &amp; Portable</a:t>
            </a:r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★ Kiểm thử toàn diện E2E Testing đạt 100% Pass</a:t>
            </a:r>
          </a:p>
          <a:p>
            <a:pPr>
              <a:spcBef>
                <a:spcPts val="200"/>
              </a:spcBef>
              <a:defRPr sz="850">
                <a:solidFill>
                  <a:srgbClr val="1A1F2C"/>
                </a:solidFill>
              </a:defRPr>
            </a:pPr>
            <a:r>
              <a:t>★ Bộ tài liệu nghiệm thu Word &amp; Slide PowerPoint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3E8C"/>
                </a:solidFill>
              </a:defRPr>
            </a:pPr>
            <a:r>
              <a:t>🌸 TONE PINK · BÁO CÁO TỔNG KẾT ĐỒ ÁN CNPM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F2C"/>
                </a:solidFill>
              </a:defRPr>
            </a:pPr>
            <a:r>
              <a:t>Kết Quả Kiểm Thử E2E &amp; Sản Phẩm Bàn Giao Đồ Án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C8D"/>
                </a:solidFill>
              </a:defRPr>
            </a:pPr>
            <a:r>
              <a:t>🧪 KẾT QUẢ KIỂM THỬ TÍCH HỢP TOÀN DIỆN (E2E)</a:t>
            </a:r>
          </a:p>
          <a:p>
            <a:pPr>
              <a:spcBef>
                <a:spcPts val="600"/>
              </a:spcBef>
              <a:defRPr sz="1000">
                <a:solidFill>
                  <a:srgbClr val="1A1F2C"/>
                </a:solidFill>
              </a:defRPr>
            </a:pPr>
            <a:r>
              <a:t>✓ Kiểm thử Đăng ký &amp; Đăng nhập: 100% Pass. Báo lỗi rõ ràng khi trùng tên, cấp cookie phiên bảo mật.</a:t>
            </a:r>
          </a:p>
          <a:p>
            <a:pPr>
              <a:spcBef>
                <a:spcPts val="600"/>
              </a:spcBef>
              <a:defRPr sz="1000">
                <a:solidFill>
                  <a:srgbClr val="1A1F2C"/>
                </a:solidFill>
              </a:defRPr>
            </a:pPr>
            <a:r>
              <a:t>✓ Kiểm thử Lộ trình &amp; Gamification: 100% Pass. Mở khóa tuần tự, trừ tim, cộng XP, Streak chính xác.</a:t>
            </a:r>
          </a:p>
          <a:p>
            <a:pPr>
              <a:spcBef>
                <a:spcPts val="600"/>
              </a:spcBef>
              <a:defRPr sz="1000">
                <a:solidFill>
                  <a:srgbClr val="1A1F2C"/>
                </a:solidFill>
              </a:defRPr>
            </a:pPr>
            <a:r>
              <a:t>✓ Kiểm thử Cổng trường IU 1-Click: 100% Pass. Bóc tách chuẩn xác 28 tín chỉ đạt GPA 2.73/6.99.</a:t>
            </a:r>
          </a:p>
          <a:p>
            <a:pPr>
              <a:spcBef>
                <a:spcPts val="600"/>
              </a:spcBef>
              <a:defRPr sz="1000">
                <a:solidFill>
                  <a:srgbClr val="1A1F2C"/>
                </a:solidFill>
              </a:defRPr>
            </a:pPr>
            <a:r>
              <a:t>✓ Kiểm thử Cố vấn 3TG AI Typewriter: 100% Pass. Không tự gửi khi chọn 4.0, hiệu ứng gõ chữ mượt mà.</a:t>
            </a:r>
          </a:p>
          <a:p>
            <a:pPr>
              <a:spcBef>
                <a:spcPts val="600"/>
              </a:spcBef>
              <a:defRPr sz="1000">
                <a:solidFill>
                  <a:srgbClr val="1A1F2C"/>
                </a:solidFill>
              </a:defRPr>
            </a:pPr>
            <a:r>
              <a:t>✓ Kiểm thử Chế độ tối &amp; Khung mặc định: 100% Pass. Không còn double-click, chữ tương phản cao, tháo khung mượt mà.</a:t>
            </a:r>
          </a:p>
          <a:p>
            <a:pPr>
              <a:spcBef>
                <a:spcPts val="600"/>
              </a:spcBef>
              <a:defRPr sz="1000">
                <a:solidFill>
                  <a:srgbClr val="1A1F2C"/>
                </a:solidFill>
              </a:defRPr>
            </a:pPr>
            <a:r>
              <a:t>✓ Kiểm thử Khởi động nhanh &amp; Ngoại tuyến: 100% Pass. Mở app tức thì trong 1.5s, học trắc nghiệm offline không gián đoạn.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5F8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🎁 BÀN GIAO CHÍNH THỨC CHO GIẢNG VIÊN</a:t>
            </a:r>
          </a:p>
          <a:p>
            <a:pPr>
              <a:spcBef>
                <a:spcPts val="800"/>
              </a:spcBef>
              <a:defRPr sz="1100" b="1">
                <a:solidFill>
                  <a:srgbClr val="1A1F2C"/>
                </a:solidFill>
              </a:defRPr>
            </a:pPr>
            <a:r>
              <a:t>★ Bộ Cài Đặt Desktop Windows (Setup):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3TG Học Vui Mỗi Ngày Setup 9.9.9.exe (~111.6 MB) tạo shortcut tự động.</a:t>
            </a:r>
          </a:p>
          <a:p>
            <a:pPr>
              <a:spcBef>
                <a:spcPts val="800"/>
              </a:spcBef>
              <a:defRPr sz="1100" b="1">
                <a:solidFill>
                  <a:srgbClr val="1A1F2C"/>
                </a:solidFill>
              </a:defRPr>
            </a:pPr>
            <a:r>
              <a:t>★ Bản Chạy Trực Tiếp Portable: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3TG Học Vui Mỗi Ngày 9.9.9.exe (~111.3 MB) chạy ngay không cần cài đặt.</a:t>
            </a:r>
          </a:p>
          <a:p>
            <a:pPr>
              <a:spcBef>
                <a:spcPts val="800"/>
              </a:spcBef>
              <a:defRPr sz="1100" b="1">
                <a:solidFill>
                  <a:srgbClr val="1A1F2C"/>
                </a:solidFill>
              </a:defRPr>
            </a:pPr>
            <a:r>
              <a:t>★ Kho Mã Nguồn Trực Tuyến GitHub: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https://github.com/Anniehatani/appstudyAI với 27 Issues và 3 Milestones hoàn thành 100%.</a:t>
            </a:r>
          </a:p>
          <a:p>
            <a:pPr>
              <a:spcBef>
                <a:spcPts val="800"/>
              </a:spcBef>
              <a:defRPr sz="1100" b="1">
                <a:solidFill>
                  <a:srgbClr val="1A1F2C"/>
                </a:solidFill>
              </a:defRPr>
            </a:pPr>
            <a:r>
              <a:t>★ Tài Liệu Báo Cáo Đồ Án Hoàn Chỉnh: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Báo cáo tổng kết đồ án Word (.docx) và Slide thuyết trình PowerPoint (.pptx) TONE PINK.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340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5C8D"/>
                </a:solidFill>
              </a:defRPr>
            </a:pPr>
            <a:r>
              <a:t>XIN TRÂN TRỌNG CẢM ƠN!</a:t>
            </a:r>
          </a:p>
          <a:p>
            <a:pPr algn="ctr">
              <a:spcBef>
                <a:spcPts val="1400"/>
              </a:spcBef>
              <a:defRPr sz="1600" b="1">
                <a:solidFill>
                  <a:srgbClr val="1A1F2C"/>
                </a:solidFill>
              </a:defRPr>
            </a:pPr>
            <a:r>
              <a:t>Nhóm TONE PINK xin chân thành cảm ơn cô ThS. Vân Anh</a:t>
            </a:r>
            <a:br/>
            <a:r>
              <a:t>cùng toàn thể các bạn sinh viên đã lắng nghe buổi báo cáo!</a:t>
            </a:r>
          </a:p>
          <a:p>
            <a:pPr algn="ctr">
              <a:spcBef>
                <a:spcPts val="2000"/>
              </a:spcBef>
              <a:defRPr sz="1400" b="1">
                <a:solidFill>
                  <a:srgbClr val="E83E8C"/>
                </a:solidFill>
              </a:defRPr>
            </a:pPr>
            <a:r>
              <a:t>💬 Q &amp; A · HỎI ĐÁP &amp; ĐÓNG GÓP Ý KIẾN HOÀN THIỆN ĐỒ ÁN</a:t>
            </a:r>
          </a:p>
          <a:p>
            <a:pPr algn="ctr"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Lê Văn An (Lead) · Nguyễn Như Quỳnh · Nguyễn Tú</a:t>
            </a:r>
            <a:br/>
            <a:r>
              <a:t>Repository: https://github.com/Anniehatani/appstudyAI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4553</Words>
  <Application>Microsoft Office PowerPoint</Application>
  <PresentationFormat>Widescreen</PresentationFormat>
  <Paragraphs>340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AN. LE VAN - ST CMCU</cp:lastModifiedBy>
  <cp:revision>2</cp:revision>
  <dcterms:created xsi:type="dcterms:W3CDTF">2013-01-27T09:14:16Z</dcterms:created>
  <dcterms:modified xsi:type="dcterms:W3CDTF">2026-10-29T07:14:52Z</dcterms:modified>
  <cp:category/>
</cp:coreProperties>
</file>