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E2C3-5028-41D0-B9D5-648B3D21AB63}" type="datetimeFigureOut">
              <a:rPr lang="en-US" smtClean="0"/>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2CA9D7-61EC-4561-9ACA-42AE9978C686}" type="slidenum">
              <a:rPr lang="en-US" smtClean="0"/>
              <a:t>‹#›</a:t>
            </a:fld>
            <a:endParaRPr lang="en-US"/>
          </a:p>
        </p:txBody>
      </p:sp>
    </p:spTree>
    <p:extLst>
      <p:ext uri="{BB962C8B-B14F-4D97-AF65-F5344CB8AC3E}">
        <p14:creationId xmlns:p14="http://schemas.microsoft.com/office/powerpoint/2010/main" val="3938410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2CA9D7-61EC-4561-9ACA-42AE9978C686}" type="slidenum">
              <a:rPr lang="en-US" smtClean="0"/>
              <a:t>3</a:t>
            </a:fld>
            <a:endParaRPr lang="en-US"/>
          </a:p>
        </p:txBody>
      </p:sp>
    </p:spTree>
    <p:extLst>
      <p:ext uri="{BB962C8B-B14F-4D97-AF65-F5344CB8AC3E}">
        <p14:creationId xmlns:p14="http://schemas.microsoft.com/office/powerpoint/2010/main" val="2686788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Thêm phần thầy cô biết ghi nhận cộng điểm</a:t>
            </a:r>
            <a:endParaRPr lang="en-US" dirty="0"/>
          </a:p>
        </p:txBody>
      </p:sp>
      <p:sp>
        <p:nvSpPr>
          <p:cNvPr id="4" name="Slide Number Placeholder 3"/>
          <p:cNvSpPr>
            <a:spLocks noGrp="1"/>
          </p:cNvSpPr>
          <p:nvPr>
            <p:ph type="sldNum" sz="quarter" idx="5"/>
          </p:nvPr>
        </p:nvSpPr>
        <p:spPr/>
        <p:txBody>
          <a:bodyPr/>
          <a:lstStyle/>
          <a:p>
            <a:fld id="{4F2CA9D7-61EC-4561-9ACA-42AE9978C686}" type="slidenum">
              <a:rPr lang="en-US" smtClean="0"/>
              <a:t>5</a:t>
            </a:fld>
            <a:endParaRPr lang="en-US"/>
          </a:p>
        </p:txBody>
      </p:sp>
    </p:spTree>
    <p:extLst>
      <p:ext uri="{BB962C8B-B14F-4D97-AF65-F5344CB8AC3E}">
        <p14:creationId xmlns:p14="http://schemas.microsoft.com/office/powerpoint/2010/main" val="2419598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640080"/>
            <a:ext cx="5486400" cy="365760"/>
          </a:xfrm>
          <a:prstGeom prst="roundRect">
            <a:avLst/>
          </a:prstGeom>
          <a:solidFill>
            <a:srgbClr val="FFFFFF"/>
          </a:solidFill>
          <a:ln>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E293B"/>
                </a:solidFill>
                <a:latin typeface="Arial"/>
              </a:defRPr>
            </a:pPr>
            <a:r>
              <a:t>🏛️ TRƯỜNG ĐẠI HỌC CMC • KHOA CÔNG NGHỆ THÔNG TIN</a:t>
            </a:r>
          </a:p>
        </p:txBody>
      </p:sp>
      <p:sp>
        <p:nvSpPr>
          <p:cNvPr id="11" name="TextBox 10"/>
          <p:cNvSpPr txBox="1"/>
          <p:nvPr/>
        </p:nvSpPr>
        <p:spPr>
          <a:xfrm>
            <a:off x="731520" y="1143000"/>
            <a:ext cx="6583680" cy="2011680"/>
          </a:xfrm>
          <a:prstGeom prst="rect">
            <a:avLst/>
          </a:prstGeom>
          <a:noFill/>
        </p:spPr>
        <p:txBody>
          <a:bodyPr wrap="square">
            <a:spAutoFit/>
          </a:bodyPr>
          <a:lstStyle/>
          <a:p>
            <a:pPr>
              <a:defRPr sz="3600" b="1">
                <a:solidFill>
                  <a:srgbClr val="E11D48"/>
                </a:solidFill>
                <a:latin typeface="Arial"/>
              </a:defRPr>
            </a:pPr>
            <a:r>
              <a:t>BÁO CÁO TỔNG KẾT</a:t>
            </a:r>
            <a:br/>
            <a:r>
              <a:t>SPRINT 1</a:t>
            </a:r>
          </a:p>
          <a:p>
            <a:pPr>
              <a:defRPr sz="1300" b="1">
                <a:solidFill>
                  <a:srgbClr val="1E293B"/>
                </a:solidFill>
                <a:latin typeface="Arial"/>
              </a:defRPr>
            </a:pPr>
            <a:r>
              <a:t>ĐỀ TÀI: NỀN TẢNG QUẢN LÝ HỌC TẬP GAMIFICATION "3TG" ALL-IN-ONE</a:t>
            </a:r>
          </a:p>
          <a:p>
            <a:pPr>
              <a:defRPr sz="1100">
                <a:solidFill>
                  <a:srgbClr val="64748B"/>
                </a:solidFill>
                <a:latin typeface="Arial"/>
              </a:defRPr>
            </a:pPr>
            <a:r>
              <a:t>Học phần: Công nghệ phần mềm - K4 (Mã môn: INFO2011) • Giảng viên hướng dẫn</a:t>
            </a:r>
          </a:p>
        </p:txBody>
      </p:sp>
      <p:sp>
        <p:nvSpPr>
          <p:cNvPr id="12" name="Rounded Rectangle 11"/>
          <p:cNvSpPr/>
          <p:nvPr/>
        </p:nvSpPr>
        <p:spPr>
          <a:xfrm>
            <a:off x="731520" y="3337560"/>
            <a:ext cx="6217920" cy="301752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wrap="square" lIns="274320" tIns="228600" rtlCol="0" anchor="ctr"/>
          <a:lstStyle/>
          <a:p>
            <a:pPr algn="ctr">
              <a:defRPr sz="1200" b="1">
                <a:solidFill>
                  <a:srgbClr val="E11D48"/>
                </a:solidFill>
              </a:defRPr>
            </a:pPr>
            <a:r>
              <a:t>📌 THÔNG TIN DỰ ÁN &amp; ĐỘI NGŨ THỰC HIỆN:</a:t>
            </a:r>
          </a:p>
          <a:p>
            <a:pPr>
              <a:spcBef>
                <a:spcPts val="300"/>
              </a:spcBef>
            </a:pPr>
            <a:r>
              <a:rPr sz="1000" b="1">
                <a:solidFill>
                  <a:srgbClr val="1E293B"/>
                </a:solidFill>
              </a:rPr>
              <a:t>• Nhóm sinh viên: </a:t>
            </a:r>
            <a:r>
              <a:rPr sz="1000">
                <a:solidFill>
                  <a:srgbClr val="64748B"/>
                </a:solidFill>
              </a:rPr>
              <a:t>NHÓM 3TG (Agile / Scrum Team)</a:t>
            </a:r>
          </a:p>
          <a:p>
            <a:pPr>
              <a:spcBef>
                <a:spcPts val="300"/>
              </a:spcBef>
            </a:pPr>
            <a:r>
              <a:rPr sz="1000" b="1">
                <a:solidFill>
                  <a:srgbClr val="1E293B"/>
                </a:solidFill>
              </a:rPr>
              <a:t>• 1. Lê Văn An (Trưởng nhóm): </a:t>
            </a:r>
            <a:r>
              <a:rPr sz="1000">
                <a:solidFill>
                  <a:srgbClr val="64748B"/>
                </a:solidFill>
              </a:rPr>
              <a:t>Scrum Master &amp; AI / Cloud Architect</a:t>
            </a:r>
          </a:p>
          <a:p>
            <a:pPr>
              <a:spcBef>
                <a:spcPts val="300"/>
              </a:spcBef>
            </a:pPr>
            <a:r>
              <a:rPr sz="1000" b="1">
                <a:solidFill>
                  <a:srgbClr val="1E293B"/>
                </a:solidFill>
              </a:rPr>
              <a:t>• 2. Nguyễn Như Quỳnh: </a:t>
            </a:r>
            <a:r>
              <a:rPr sz="1000">
                <a:solidFill>
                  <a:srgbClr val="64748B"/>
                </a:solidFill>
              </a:rPr>
              <a:t>Product Owner &amp; Lead UI/UX / Frontend</a:t>
            </a:r>
          </a:p>
          <a:p>
            <a:pPr>
              <a:spcBef>
                <a:spcPts val="300"/>
              </a:spcBef>
            </a:pPr>
            <a:r>
              <a:rPr sz="1000" b="1">
                <a:solidFill>
                  <a:srgbClr val="1E293B"/>
                </a:solidFill>
              </a:rPr>
              <a:t>• 3. Nguyễn Văn Tú: </a:t>
            </a:r>
            <a:r>
              <a:rPr sz="1000">
                <a:solidFill>
                  <a:srgbClr val="64748B"/>
                </a:solidFill>
              </a:rPr>
              <a:t>Database Engineer, Backend &amp; QA/Tester</a:t>
            </a:r>
          </a:p>
          <a:p>
            <a:pPr>
              <a:spcBef>
                <a:spcPts val="300"/>
              </a:spcBef>
            </a:pPr>
            <a:r>
              <a:rPr sz="1000" b="1">
                <a:solidFill>
                  <a:srgbClr val="1E293B"/>
                </a:solidFill>
              </a:rPr>
              <a:t>• Thời gian thực hiện Sprint 1: </a:t>
            </a:r>
            <a:r>
              <a:rPr sz="1000">
                <a:solidFill>
                  <a:srgbClr val="64748B"/>
                </a:solidFill>
              </a:rPr>
              <a:t>05/10/2026 – 18/10/2026 (2 tuần chuẩn Scrum)</a:t>
            </a:r>
          </a:p>
          <a:p>
            <a:pPr>
              <a:spcBef>
                <a:spcPts val="300"/>
              </a:spcBef>
            </a:pPr>
            <a:r>
              <a:rPr sz="1000" b="1">
                <a:solidFill>
                  <a:srgbClr val="1E293B"/>
                </a:solidFill>
              </a:rPr>
              <a:t>• Trạng thái nghiệm thu: </a:t>
            </a:r>
            <a:r>
              <a:rPr sz="1000">
                <a:solidFill>
                  <a:srgbClr val="E11D48"/>
                </a:solidFill>
              </a:rPr>
              <a:t>38/38 Story Points (100% Hoàn thành, 0 Bug)</a:t>
            </a:r>
          </a:p>
        </p:txBody>
      </p:sp>
      <p:sp>
        <p:nvSpPr>
          <p:cNvPr id="13" name="Rounded Rectangle 12"/>
          <p:cNvSpPr/>
          <p:nvPr/>
        </p:nvSpPr>
        <p:spPr>
          <a:xfrm>
            <a:off x="7223760" y="1143000"/>
            <a:ext cx="4206240" cy="5212080"/>
          </a:xfrm>
          <a:prstGeom prst="roundRect">
            <a:avLst/>
          </a:prstGeom>
          <a:solidFill>
            <a:srgbClr val="FFFFFF"/>
          </a:solidFill>
          <a:ln w="2540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download.jpg"/>
          <p:cNvPicPr>
            <a:picLocks noChangeAspect="1"/>
          </p:cNvPicPr>
          <p:nvPr/>
        </p:nvPicPr>
        <p:blipFill>
          <a:blip r:embed="rId2"/>
          <a:stretch>
            <a:fillRect/>
          </a:stretch>
        </p:blipFill>
        <p:spPr>
          <a:xfrm>
            <a:off x="7635240" y="1371600"/>
            <a:ext cx="3383280" cy="3383280"/>
          </a:xfrm>
          <a:prstGeom prst="rect">
            <a:avLst/>
          </a:prstGeom>
        </p:spPr>
      </p:pic>
      <p:sp>
        <p:nvSpPr>
          <p:cNvPr id="15" name="Rounded Rectangle 14"/>
          <p:cNvSpPr/>
          <p:nvPr/>
        </p:nvSpPr>
        <p:spPr>
          <a:xfrm>
            <a:off x="7452360" y="4663440"/>
            <a:ext cx="3749039" cy="146304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82880" tIns="137160" rtlCol="0" anchor="ctr"/>
          <a:lstStyle/>
          <a:p>
            <a:pPr algn="ctr">
              <a:defRPr sz="1100" b="1">
                <a:solidFill>
                  <a:srgbClr val="E11D48"/>
                </a:solidFill>
              </a:defRPr>
            </a:pPr>
            <a:r>
              <a:t>💬 Thỏ Bảy Màu chào cả nhà:</a:t>
            </a:r>
          </a:p>
          <a:p>
            <a:pPr>
              <a:defRPr sz="1000" i="1">
                <a:solidFill>
                  <a:srgbClr val="1E293B"/>
                </a:solidFill>
              </a:defRPr>
            </a:pPr>
            <a:r>
              <a:t>"Chào mừng Thầy Cô và các bạn đến với buổi báo cáo Sprint 1 của team 3TG! Cùng khám phá cách tụi mình biến bài học thành game phiêu lưu cực cuốn nhé!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ĐỘI NGŨ DỰ ÁN &amp; PHÂN VAI TRÁCH NHIỆM SCRUM</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02 / 14</a:t>
            </a:r>
          </a:p>
        </p:txBody>
      </p:sp>
      <p:sp>
        <p:nvSpPr>
          <p:cNvPr id="13" name="Rounded Rectangle 12"/>
          <p:cNvSpPr/>
          <p:nvPr/>
        </p:nvSpPr>
        <p:spPr>
          <a:xfrm>
            <a:off x="731520" y="1325880"/>
            <a:ext cx="3429000" cy="3840480"/>
          </a:xfrm>
          <a:prstGeom prst="roundRect">
            <a:avLst/>
          </a:prstGeom>
          <a:solidFill>
            <a:srgbClr val="FFFFFF"/>
          </a:solidFill>
          <a:ln w="22860">
            <a:solidFill>
              <a:srgbClr val="FF5C8A"/>
            </a:solidFill>
          </a:ln>
        </p:spPr>
        <p:style>
          <a:lnRef idx="1">
            <a:schemeClr val="accent1"/>
          </a:lnRef>
          <a:fillRef idx="3">
            <a:schemeClr val="accent1"/>
          </a:fillRef>
          <a:effectRef idx="2">
            <a:schemeClr val="accent1"/>
          </a:effectRef>
          <a:fontRef idx="minor">
            <a:schemeClr val="lt1"/>
          </a:fontRef>
        </p:style>
        <p:txBody>
          <a:bodyPr wrap="square" lIns="201168" tIns="201168" rIns="182880" rtlCol="0" anchor="ctr"/>
          <a:lstStyle/>
          <a:p>
            <a:pPr algn="ctr">
              <a:defRPr sz="1300" b="1">
                <a:solidFill>
                  <a:srgbClr val="1E293B"/>
                </a:solidFill>
                <a:latin typeface="Arial"/>
              </a:defRPr>
            </a:pPr>
            <a:r>
              <a:t>👤 LÊ VĂN AN</a:t>
            </a:r>
          </a:p>
          <a:p>
            <a:pPr>
              <a:defRPr sz="1050" b="1">
                <a:solidFill>
                  <a:srgbClr val="E11D48"/>
                </a:solidFill>
              </a:defRPr>
            </a:pPr>
            <a:r>
              <a:t>Trưởng nhóm • Scrum Master</a:t>
            </a:r>
          </a:p>
          <a:p>
            <a:pPr>
              <a:defRPr sz="950" i="1">
                <a:solidFill>
                  <a:srgbClr val="64748B"/>
                </a:solidFill>
              </a:defRPr>
            </a:pPr>
            <a:r>
              <a:t>AI &amp; Cloud Architect</a:t>
            </a:r>
          </a:p>
          <a:p>
            <a:pPr>
              <a:defRPr sz="800">
                <a:solidFill>
                  <a:srgbClr val="FECDD3"/>
                </a:solidFill>
              </a:defRPr>
            </a:pPr>
            <a:r>
              <a:t>————————————————————————————</a:t>
            </a:r>
          </a:p>
          <a:p>
            <a:pPr>
              <a:spcBef>
                <a:spcPts val="300"/>
              </a:spcBef>
            </a:pPr>
            <a:r>
              <a:rPr sz="950">
                <a:solidFill>
                  <a:srgbClr val="1E293B"/>
                </a:solidFill>
              </a:rPr>
              <a:t>✓ Điều phối nhịp độ Scrum, chủ trì Daily &amp; Retro</a:t>
            </a:r>
          </a:p>
          <a:p>
            <a:pPr>
              <a:spcBef>
                <a:spcPts val="300"/>
              </a:spcBef>
            </a:pPr>
            <a:r>
              <a:rPr sz="950">
                <a:solidFill>
                  <a:srgbClr val="1E293B"/>
                </a:solidFill>
              </a:rPr>
              <a:t>✓ Loại bỏ các rào cản kỹ thuật &amp; tối ưu tiến độ</a:t>
            </a:r>
          </a:p>
          <a:p>
            <a:pPr>
              <a:spcBef>
                <a:spcPts val="300"/>
              </a:spcBef>
            </a:pPr>
            <a:r>
              <a:rPr sz="950">
                <a:solidFill>
                  <a:srgbClr val="1E293B"/>
                </a:solidFill>
              </a:rPr>
              <a:t>✓ Thiết kế kiến trúc Cloudflare D1 &amp; RAG AI Engine</a:t>
            </a:r>
          </a:p>
          <a:p>
            <a:pPr>
              <a:spcBef>
                <a:spcPts val="300"/>
              </a:spcBef>
            </a:pPr>
            <a:r>
              <a:rPr sz="950">
                <a:solidFill>
                  <a:srgbClr val="1E293B"/>
                </a:solidFill>
              </a:rPr>
              <a:t>✓ Bảo đảm tuân thủ quy chuẩn DoD và chất lượng mã nguồn</a:t>
            </a:r>
          </a:p>
        </p:txBody>
      </p:sp>
      <p:sp>
        <p:nvSpPr>
          <p:cNvPr id="14" name="Rounded Rectangle 13"/>
          <p:cNvSpPr/>
          <p:nvPr/>
        </p:nvSpPr>
        <p:spPr>
          <a:xfrm>
            <a:off x="4389120" y="1325880"/>
            <a:ext cx="3429000" cy="3840480"/>
          </a:xfrm>
          <a:prstGeom prst="roundRect">
            <a:avLst/>
          </a:prstGeom>
          <a:solidFill>
            <a:srgbClr val="FFFFFF"/>
          </a:solidFill>
          <a:ln w="22860">
            <a:solidFill>
              <a:srgbClr val="8B5CF6"/>
            </a:solidFill>
          </a:ln>
        </p:spPr>
        <p:style>
          <a:lnRef idx="1">
            <a:schemeClr val="accent1"/>
          </a:lnRef>
          <a:fillRef idx="3">
            <a:schemeClr val="accent1"/>
          </a:fillRef>
          <a:effectRef idx="2">
            <a:schemeClr val="accent1"/>
          </a:effectRef>
          <a:fontRef idx="minor">
            <a:schemeClr val="lt1"/>
          </a:fontRef>
        </p:style>
        <p:txBody>
          <a:bodyPr wrap="square" lIns="201168" tIns="201168" rIns="182880" rtlCol="0" anchor="ctr"/>
          <a:lstStyle/>
          <a:p>
            <a:pPr algn="ctr">
              <a:defRPr sz="1300" b="1">
                <a:solidFill>
                  <a:srgbClr val="1E293B"/>
                </a:solidFill>
                <a:latin typeface="Arial"/>
              </a:defRPr>
            </a:pPr>
            <a:r>
              <a:t>👤 NGUYỄN NHƯ QUỲNH</a:t>
            </a:r>
          </a:p>
          <a:p>
            <a:pPr>
              <a:defRPr sz="1050" b="1">
                <a:solidFill>
                  <a:srgbClr val="E11D48"/>
                </a:solidFill>
              </a:defRPr>
            </a:pPr>
            <a:r>
              <a:t>Product Owner</a:t>
            </a:r>
          </a:p>
          <a:p>
            <a:pPr>
              <a:defRPr sz="950" i="1">
                <a:solidFill>
                  <a:srgbClr val="64748B"/>
                </a:solidFill>
              </a:defRPr>
            </a:pPr>
            <a:r>
              <a:t>Lead UI/UX &amp; Frontend Developer</a:t>
            </a:r>
          </a:p>
          <a:p>
            <a:pPr>
              <a:defRPr sz="800">
                <a:solidFill>
                  <a:srgbClr val="FECDD3"/>
                </a:solidFill>
              </a:defRPr>
            </a:pPr>
            <a:r>
              <a:t>————————————————————————————</a:t>
            </a:r>
          </a:p>
          <a:p>
            <a:pPr>
              <a:spcBef>
                <a:spcPts val="300"/>
              </a:spcBef>
            </a:pPr>
            <a:r>
              <a:rPr sz="950">
                <a:solidFill>
                  <a:srgbClr val="1E293B"/>
                </a:solidFill>
              </a:rPr>
              <a:t>✓ Quản lý &amp; ưu tiên hóa Product Backlog theo giá trị</a:t>
            </a:r>
          </a:p>
          <a:p>
            <a:pPr>
              <a:spcBef>
                <a:spcPts val="300"/>
              </a:spcBef>
            </a:pPr>
            <a:r>
              <a:rPr sz="950">
                <a:solidFill>
                  <a:srgbClr val="1E293B"/>
                </a:solidFill>
              </a:rPr>
              <a:t>✓ Thiết kế Design System &amp; Mascot Thỏ Bảy Màu 20 trạng thái</a:t>
            </a:r>
          </a:p>
          <a:p>
            <a:pPr>
              <a:spcBef>
                <a:spcPts val="300"/>
              </a:spcBef>
            </a:pPr>
            <a:r>
              <a:rPr sz="950">
                <a:solidFill>
                  <a:srgbClr val="1E293B"/>
                </a:solidFill>
              </a:rPr>
              <a:t>✓ Xây dựng giao diện Gamification, Lộ trình học &amp; Tủ huy hiệu</a:t>
            </a:r>
          </a:p>
          <a:p>
            <a:pPr>
              <a:spcBef>
                <a:spcPts val="300"/>
              </a:spcBef>
            </a:pPr>
            <a:r>
              <a:rPr sz="950">
                <a:solidFill>
                  <a:srgbClr val="1E293B"/>
                </a:solidFill>
              </a:rPr>
              <a:t>✓ Đại diện tiếng nói của sinh viên để nghiệm thu tính năng</a:t>
            </a:r>
          </a:p>
        </p:txBody>
      </p:sp>
      <p:sp>
        <p:nvSpPr>
          <p:cNvPr id="15" name="Rounded Rectangle 14"/>
          <p:cNvSpPr/>
          <p:nvPr/>
        </p:nvSpPr>
        <p:spPr>
          <a:xfrm>
            <a:off x="8046720" y="1325880"/>
            <a:ext cx="3429000" cy="3840480"/>
          </a:xfrm>
          <a:prstGeom prst="roundRect">
            <a:avLst/>
          </a:prstGeom>
          <a:solidFill>
            <a:srgbClr val="FFFFFF"/>
          </a:solidFill>
          <a:ln w="22860">
            <a:solidFill>
              <a:srgbClr val="F59E0B"/>
            </a:solidFill>
          </a:ln>
        </p:spPr>
        <p:style>
          <a:lnRef idx="1">
            <a:schemeClr val="accent1"/>
          </a:lnRef>
          <a:fillRef idx="3">
            <a:schemeClr val="accent1"/>
          </a:fillRef>
          <a:effectRef idx="2">
            <a:schemeClr val="accent1"/>
          </a:effectRef>
          <a:fontRef idx="minor">
            <a:schemeClr val="lt1"/>
          </a:fontRef>
        </p:style>
        <p:txBody>
          <a:bodyPr wrap="square" lIns="201168" tIns="201168" rIns="182880" rtlCol="0" anchor="ctr"/>
          <a:lstStyle/>
          <a:p>
            <a:pPr algn="ctr">
              <a:defRPr sz="1300" b="1">
                <a:solidFill>
                  <a:srgbClr val="1E293B"/>
                </a:solidFill>
                <a:latin typeface="Arial"/>
              </a:defRPr>
            </a:pPr>
            <a:r>
              <a:t>👤 NGUYỄN VĂN TÚ</a:t>
            </a:r>
          </a:p>
          <a:p>
            <a:pPr>
              <a:defRPr sz="1050" b="1">
                <a:solidFill>
                  <a:srgbClr val="E11D48"/>
                </a:solidFill>
              </a:defRPr>
            </a:pPr>
            <a:r>
              <a:t>Database &amp; Backend Engineer</a:t>
            </a:r>
          </a:p>
          <a:p>
            <a:pPr>
              <a:defRPr sz="950" i="1">
                <a:solidFill>
                  <a:srgbClr val="64748B"/>
                </a:solidFill>
              </a:defRPr>
            </a:pPr>
            <a:r>
              <a:t>Lead QA / Test Automation</a:t>
            </a:r>
          </a:p>
          <a:p>
            <a:pPr>
              <a:defRPr sz="800">
                <a:solidFill>
                  <a:srgbClr val="FECDD3"/>
                </a:solidFill>
              </a:defRPr>
            </a:pPr>
            <a:r>
              <a:t>————————————————————————————</a:t>
            </a:r>
          </a:p>
          <a:p>
            <a:pPr>
              <a:spcBef>
                <a:spcPts val="300"/>
              </a:spcBef>
            </a:pPr>
            <a:r>
              <a:rPr sz="950">
                <a:solidFill>
                  <a:srgbClr val="1E293B"/>
                </a:solidFill>
              </a:rPr>
              <a:t>✓ Chuẩn hóa Cơ sở dữ liệu 3NF (21 bảng, 108 thuộc tính)</a:t>
            </a:r>
          </a:p>
          <a:p>
            <a:pPr>
              <a:spcBef>
                <a:spcPts val="300"/>
              </a:spcBef>
            </a:pPr>
            <a:r>
              <a:rPr sz="950">
                <a:solidFill>
                  <a:srgbClr val="1E293B"/>
                </a:solidFill>
              </a:rPr>
              <a:t>✓ Xây dựng RESTful API cho lộ trình và học liệu</a:t>
            </a:r>
          </a:p>
          <a:p>
            <a:pPr>
              <a:spcBef>
                <a:spcPts val="300"/>
              </a:spcBef>
            </a:pPr>
            <a:r>
              <a:rPr sz="950">
                <a:solidFill>
                  <a:srgbClr val="1E293B"/>
                </a:solidFill>
              </a:rPr>
              <a:t>✓ Viết kịch bản kiểm thử tự động (Unit &amp; Integration Test)</a:t>
            </a:r>
          </a:p>
          <a:p>
            <a:pPr>
              <a:spcBef>
                <a:spcPts val="300"/>
              </a:spcBef>
            </a:pPr>
            <a:r>
              <a:rPr sz="950">
                <a:solidFill>
                  <a:srgbClr val="1E293B"/>
                </a:solidFill>
              </a:rPr>
              <a:t>✓ Tối ưu hóa độ trễ truy vấn Edge SQLite &lt; 50ms</a:t>
            </a:r>
          </a:p>
        </p:txBody>
      </p:sp>
      <p:sp>
        <p:nvSpPr>
          <p:cNvPr id="16" name="Rounded Rectangle 15"/>
          <p:cNvSpPr/>
          <p:nvPr/>
        </p:nvSpPr>
        <p:spPr>
          <a:xfrm>
            <a:off x="731520" y="5303520"/>
            <a:ext cx="1188720" cy="1152144"/>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download (2)9.jpg"/>
          <p:cNvPicPr>
            <a:picLocks noChangeAspect="1"/>
          </p:cNvPicPr>
          <p:nvPr/>
        </p:nvPicPr>
        <p:blipFill>
          <a:blip r:embed="rId2"/>
          <a:stretch>
            <a:fillRect/>
          </a:stretch>
        </p:blipFill>
        <p:spPr>
          <a:xfrm>
            <a:off x="777240" y="5349240"/>
            <a:ext cx="1097280" cy="1098773"/>
          </a:xfrm>
          <a:prstGeom prst="rect">
            <a:avLst/>
          </a:prstGeom>
        </p:spPr>
      </p:pic>
      <p:sp>
        <p:nvSpPr>
          <p:cNvPr id="18" name="Rounded Rectangle 17"/>
          <p:cNvSpPr/>
          <p:nvPr/>
        </p:nvSpPr>
        <p:spPr>
          <a:xfrm>
            <a:off x="1993392" y="530352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Chiến Binh khích lệ:</a:t>
            </a:r>
          </a:p>
          <a:p>
            <a:pPr>
              <a:defRPr sz="950" i="1">
                <a:solidFill>
                  <a:srgbClr val="1E293B"/>
                </a:solidFill>
                <a:latin typeface="Arial"/>
              </a:defRPr>
            </a:pPr>
            <a:r>
              <a:t>"Đội hình tam giác vàng 3TG: Phối hợp nhịp nhàng, chia việc rõ ràng theo RACI, không ai bị bỏ lại phía sau!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BỐI CẢNH DỰ ÁN &amp; NỖI ĐAU HỆ THỐNG TRUYỀN THỐNG</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03 / 14</a:t>
            </a:r>
          </a:p>
        </p:txBody>
      </p:sp>
      <p:sp>
        <p:nvSpPr>
          <p:cNvPr id="13" name="Rounded Rectangle 12"/>
          <p:cNvSpPr/>
          <p:nvPr/>
        </p:nvSpPr>
        <p:spPr>
          <a:xfrm>
            <a:off x="731520" y="1325880"/>
            <a:ext cx="5120640" cy="3749039"/>
          </a:xfrm>
          <a:prstGeom prst="roundRect">
            <a:avLst/>
          </a:prstGeom>
          <a:solidFill>
            <a:srgbClr val="FFFFFF"/>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wrap="square" lIns="228600" tIns="201168" rtlCol="0" anchor="ctr"/>
          <a:lstStyle/>
          <a:p>
            <a:pPr algn="ctr">
              <a:defRPr sz="1200" b="1">
                <a:solidFill>
                  <a:srgbClr val="DC2626"/>
                </a:solidFill>
              </a:defRPr>
            </a:pPr>
            <a:r>
              <a:t>⚠️ HẠN CHẾ CỦA HỆ THỐNG TRUYỀN THỐNG (EduX):</a:t>
            </a:r>
          </a:p>
          <a:p>
            <a:pPr>
              <a:spcBef>
                <a:spcPts val="400"/>
              </a:spcBef>
            </a:pPr>
            <a:r>
              <a:rPr sz="1000" b="1">
                <a:solidFill>
                  <a:srgbClr val="1E293B"/>
                </a:solidFill>
              </a:rPr>
              <a:t>• Giao diện khô khan, buồn ngủ: </a:t>
            </a:r>
            <a:r>
              <a:rPr sz="950">
                <a:solidFill>
                  <a:srgbClr val="64748B"/>
                </a:solidFill>
              </a:rPr>
              <a:t>Giao diện danh mục xơ cứng, thiếu tính tương tác sinh động, sinh viên cảm thấy áp lực và chán nản.</a:t>
            </a:r>
          </a:p>
          <a:p>
            <a:pPr>
              <a:spcBef>
                <a:spcPts val="400"/>
              </a:spcBef>
            </a:pPr>
            <a:r>
              <a:rPr sz="1000" b="1">
                <a:solidFill>
                  <a:srgbClr val="1E293B"/>
                </a:solidFill>
              </a:rPr>
              <a:t>• Công cụ học tập bị rời rạc: </a:t>
            </a:r>
            <a:r>
              <a:rPr sz="950">
                <a:solidFill>
                  <a:srgbClr val="64748B"/>
                </a:solidFill>
              </a:rPr>
              <a:t>Học slide một nơi, ghi chú mở file Word/Notion riêng, làm bài tập chuyển qua link khác, khó tập trung.</a:t>
            </a:r>
          </a:p>
          <a:p>
            <a:pPr>
              <a:spcBef>
                <a:spcPts val="400"/>
              </a:spcBef>
            </a:pPr>
            <a:r>
              <a:rPr sz="1000" b="1">
                <a:solidFill>
                  <a:srgbClr val="1E293B"/>
                </a:solidFill>
              </a:rPr>
              <a:t>• Thiếu động lực duy trì thói quen: </a:t>
            </a:r>
            <a:r>
              <a:rPr sz="950">
                <a:solidFill>
                  <a:srgbClr val="64748B"/>
                </a:solidFill>
              </a:rPr>
              <a:t>Không có cơ chế vinh danh, không có chuỗi ngày học (streak) nên sinh viên dễ bỏ dở giữa chừng.</a:t>
            </a:r>
          </a:p>
          <a:p>
            <a:pPr>
              <a:spcBef>
                <a:spcPts val="400"/>
              </a:spcBef>
            </a:pPr>
            <a:r>
              <a:rPr sz="1000" b="1">
                <a:solidFill>
                  <a:srgbClr val="1E293B"/>
                </a:solidFill>
              </a:rPr>
              <a:t>• Trợ giúp bài vở bị nghẽn: </a:t>
            </a:r>
            <a:r>
              <a:rPr sz="950">
                <a:solidFill>
                  <a:srgbClr val="64748B"/>
                </a:solidFill>
              </a:rPr>
              <a:t>Giảng viên và trợ giảng không thể hỗ trợ 24/7, sinh viên gặp câu khó dễ nản lòng và tích tụ lỗ hổng kiến thức.</a:t>
            </a:r>
          </a:p>
        </p:txBody>
      </p:sp>
      <p:sp>
        <p:nvSpPr>
          <p:cNvPr id="14" name="Rounded Rectangle 13"/>
          <p:cNvSpPr/>
          <p:nvPr/>
        </p:nvSpPr>
        <p:spPr>
          <a:xfrm>
            <a:off x="6126480" y="1325880"/>
            <a:ext cx="5303520" cy="3749039"/>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228600" tIns="201168" rtlCol="0" anchor="ctr"/>
          <a:lstStyle/>
          <a:p>
            <a:pPr algn="ctr">
              <a:defRPr sz="1200" b="1">
                <a:solidFill>
                  <a:srgbClr val="E11D48"/>
                </a:solidFill>
              </a:defRPr>
            </a:pPr>
            <a:r>
              <a:t>✨ ĐỘT PHÁ CỦA NỀN TẢNG 3TG ALL-IN-ONE:</a:t>
            </a:r>
          </a:p>
          <a:p>
            <a:pPr>
              <a:spcBef>
                <a:spcPts val="400"/>
              </a:spcBef>
            </a:pPr>
            <a:r>
              <a:rPr sz="1000" b="1">
                <a:solidFill>
                  <a:srgbClr val="E11D48"/>
                </a:solidFill>
              </a:rPr>
              <a:t>★ Gamification Duolingo-style: </a:t>
            </a:r>
            <a:r>
              <a:rPr sz="950">
                <a:solidFill>
                  <a:srgbClr val="1E293B"/>
                </a:solidFill>
              </a:rPr>
              <a:t>Biến 10 môn học thành 106 cửa ải phiêu lưu, vượt ải mở rương, tích lũy XP, Tim và Đá quý.</a:t>
            </a:r>
          </a:p>
          <a:p>
            <a:pPr>
              <a:spcBef>
                <a:spcPts val="400"/>
              </a:spcBef>
            </a:pPr>
            <a:r>
              <a:rPr sz="1000" b="1">
                <a:solidFill>
                  <a:srgbClr val="E11D48"/>
                </a:solidFill>
              </a:rPr>
              <a:t>★ All-in-One Cẩm nang tích hợp: </a:t>
            </a:r>
            <a:r>
              <a:rPr sz="950">
                <a:solidFill>
                  <a:srgbClr val="1E293B"/>
                </a:solidFill>
              </a:rPr>
              <a:t>Ghi chú, code mẫu và công thức trọng tâm tự động đồng bộ theo từng slide bài học.</a:t>
            </a:r>
          </a:p>
          <a:p>
            <a:pPr>
              <a:spcBef>
                <a:spcPts val="400"/>
              </a:spcBef>
            </a:pPr>
            <a:r>
              <a:rPr sz="1000" b="1">
                <a:solidFill>
                  <a:srgbClr val="E11D48"/>
                </a:solidFill>
              </a:rPr>
              <a:t>★ Trợ giảng AI RAG an toàn 24/7: </a:t>
            </a:r>
            <a:r>
              <a:rPr sz="950">
                <a:solidFill>
                  <a:srgbClr val="1E293B"/>
                </a:solidFill>
              </a:rPr>
              <a:t>Hỏi đáp ngay tại cửa ải học tập, giải thích từng bước dựa trên tài liệu chuẩn mà không lộ đề thi.</a:t>
            </a:r>
          </a:p>
          <a:p>
            <a:pPr>
              <a:spcBef>
                <a:spcPts val="400"/>
              </a:spcBef>
            </a:pPr>
            <a:r>
              <a:rPr sz="1000" b="1">
                <a:solidFill>
                  <a:srgbClr val="E11D48"/>
                </a:solidFill>
              </a:rPr>
              <a:t>★ Linh hồn Thỏ Bảy Màu vui nhộn: </a:t>
            </a:r>
            <a:r>
              <a:rPr sz="950">
                <a:solidFill>
                  <a:srgbClr val="1E293B"/>
                </a:solidFill>
              </a:rPr>
              <a:t>Mascot đồng hành động viên khi đúng, an ủi khi sai, tạo cảm xúc tích cực cho người học.</a:t>
            </a:r>
          </a:p>
        </p:txBody>
      </p:sp>
      <p:sp>
        <p:nvSpPr>
          <p:cNvPr id="15" name="Rounded Rectangle 14"/>
          <p:cNvSpPr/>
          <p:nvPr/>
        </p:nvSpPr>
        <p:spPr>
          <a:xfrm>
            <a:off x="731520" y="5257800"/>
            <a:ext cx="1234440" cy="1200150"/>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Thỏ bảy màu.jpg"/>
          <p:cNvPicPr>
            <a:picLocks noChangeAspect="1"/>
          </p:cNvPicPr>
          <p:nvPr/>
        </p:nvPicPr>
        <p:blipFill>
          <a:blip r:embed="rId3"/>
          <a:stretch>
            <a:fillRect/>
          </a:stretch>
        </p:blipFill>
        <p:spPr>
          <a:xfrm>
            <a:off x="777240" y="5303520"/>
            <a:ext cx="1143000" cy="1143000"/>
          </a:xfrm>
          <a:prstGeom prst="rect">
            <a:avLst/>
          </a:prstGeom>
        </p:spPr>
      </p:pic>
      <p:sp>
        <p:nvSpPr>
          <p:cNvPr id="17" name="Rounded Rectangle 16"/>
          <p:cNvSpPr/>
          <p:nvPr/>
        </p:nvSpPr>
        <p:spPr>
          <a:xfrm>
            <a:off x="2039112" y="525780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Bảy Màu trăn trở:</a:t>
            </a:r>
          </a:p>
          <a:p>
            <a:pPr>
              <a:defRPr sz="950" i="1">
                <a:solidFill>
                  <a:srgbClr val="1E293B"/>
                </a:solidFill>
                <a:latin typeface="Arial"/>
              </a:defRPr>
            </a:pPr>
            <a:r>
              <a:t>"Học đại học đâu cần phải khô khan! Thỏ và 3TG muốn mỗi ngày mở app lên, sinh viên đều cảm thấy hào hứng như mở một tựa game yêu thích!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NĂM TRỤ CỘT CỐT LÕI TẠO NÊN SỨC MẠNH CỦA 3TG</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04 / 14</a:t>
            </a:r>
          </a:p>
        </p:txBody>
      </p:sp>
      <p:sp>
        <p:nvSpPr>
          <p:cNvPr id="13" name="Rounded Rectangle 12"/>
          <p:cNvSpPr/>
          <p:nvPr/>
        </p:nvSpPr>
        <p:spPr>
          <a:xfrm>
            <a:off x="731520" y="1325880"/>
            <a:ext cx="2057400" cy="384048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wrap="square" lIns="109728" tIns="164592" rIns="109728" rtlCol="0" anchor="ctr"/>
          <a:lstStyle/>
          <a:p>
            <a:pPr algn="ctr">
              <a:defRPr sz="1000" b="1">
                <a:solidFill>
                  <a:srgbClr val="E11D48"/>
                </a:solidFill>
              </a:defRPr>
            </a:pPr>
            <a:r>
              <a:t>1. GAMIFICATION TƯƠNG TÁC</a:t>
            </a:r>
          </a:p>
          <a:p>
            <a:pPr>
              <a:defRPr sz="850" i="1">
                <a:solidFill>
                  <a:srgbClr val="64748B"/>
                </a:solidFill>
              </a:defRPr>
            </a:pPr>
            <a:r>
              <a:t>Trái tim &amp; Động lực</a:t>
            </a:r>
          </a:p>
          <a:p>
            <a:pPr>
              <a:defRPr sz="700">
                <a:solidFill>
                  <a:srgbClr val="FECDD3"/>
                </a:solidFill>
              </a:defRPr>
            </a:pPr>
            <a:r>
              <a:t>————————————————</a:t>
            </a:r>
          </a:p>
          <a:p>
            <a:pPr>
              <a:spcBef>
                <a:spcPts val="300"/>
              </a:spcBef>
            </a:pPr>
            <a:r>
              <a:rPr sz="880">
                <a:solidFill>
                  <a:srgbClr val="1E293B"/>
                </a:solidFill>
              </a:rPr>
              <a:t>• Cơ chế 5 Tim (Hearts) thử thách</a:t>
            </a:r>
          </a:p>
          <a:p>
            <a:pPr>
              <a:spcBef>
                <a:spcPts val="300"/>
              </a:spcBef>
            </a:pPr>
            <a:r>
              <a:rPr sz="880">
                <a:solidFill>
                  <a:srgbClr val="1E293B"/>
                </a:solidFill>
              </a:rPr>
              <a:t>• Đá quý (Gems) &amp; Điểm kinh nghiệm (XP)</a:t>
            </a:r>
          </a:p>
          <a:p>
            <a:pPr>
              <a:spcBef>
                <a:spcPts val="300"/>
              </a:spcBef>
            </a:pPr>
            <a:r>
              <a:rPr sz="880">
                <a:solidFill>
                  <a:srgbClr val="1E293B"/>
                </a:solidFill>
              </a:rPr>
              <a:t>• Chuỗi ngày học rực lửa (Streak)</a:t>
            </a:r>
          </a:p>
          <a:p>
            <a:pPr>
              <a:spcBef>
                <a:spcPts val="300"/>
              </a:spcBef>
            </a:pPr>
            <a:r>
              <a:rPr sz="880">
                <a:solidFill>
                  <a:srgbClr val="1E293B"/>
                </a:solidFill>
              </a:rPr>
              <a:t>• Tủ huy hiệu vinh danh 12 thành tích</a:t>
            </a:r>
          </a:p>
        </p:txBody>
      </p:sp>
      <p:sp>
        <p:nvSpPr>
          <p:cNvPr id="14" name="Rounded Rectangle 13"/>
          <p:cNvSpPr/>
          <p:nvPr/>
        </p:nvSpPr>
        <p:spPr>
          <a:xfrm>
            <a:off x="2907791" y="1325880"/>
            <a:ext cx="2057400" cy="3840480"/>
          </a:xfrm>
          <a:prstGeom prst="roundRect">
            <a:avLst/>
          </a:prstGeom>
          <a:solidFill>
            <a:srgbClr val="FFFFFF"/>
          </a:solidFill>
          <a:ln w="19050">
            <a:solidFill>
              <a:srgbClr val="8B5CF6"/>
            </a:solidFill>
          </a:ln>
        </p:spPr>
        <p:style>
          <a:lnRef idx="1">
            <a:schemeClr val="accent1"/>
          </a:lnRef>
          <a:fillRef idx="3">
            <a:schemeClr val="accent1"/>
          </a:fillRef>
          <a:effectRef idx="2">
            <a:schemeClr val="accent1"/>
          </a:effectRef>
          <a:fontRef idx="minor">
            <a:schemeClr val="lt1"/>
          </a:fontRef>
        </p:style>
        <p:txBody>
          <a:bodyPr wrap="square" lIns="109728" tIns="164592" rIns="109728" rtlCol="0" anchor="ctr"/>
          <a:lstStyle/>
          <a:p>
            <a:pPr algn="ctr">
              <a:defRPr sz="1000" b="1">
                <a:solidFill>
                  <a:srgbClr val="8B5CF6"/>
                </a:solidFill>
              </a:defRPr>
            </a:pPr>
            <a:r>
              <a:t>2. TRỢ GIẢNG AI BẢO MẬT</a:t>
            </a:r>
          </a:p>
          <a:p>
            <a:pPr>
              <a:defRPr sz="850" i="1">
                <a:solidFill>
                  <a:srgbClr val="64748B"/>
                </a:solidFill>
              </a:defRPr>
            </a:pPr>
            <a:r>
              <a:t>Trí tuệ nhân tạo RAG</a:t>
            </a:r>
          </a:p>
          <a:p>
            <a:pPr>
              <a:defRPr sz="700">
                <a:solidFill>
                  <a:srgbClr val="FECDD3"/>
                </a:solidFill>
              </a:defRPr>
            </a:pPr>
            <a:r>
              <a:t>————————————————</a:t>
            </a:r>
          </a:p>
          <a:p>
            <a:pPr>
              <a:spcBef>
                <a:spcPts val="300"/>
              </a:spcBef>
            </a:pPr>
            <a:r>
              <a:rPr sz="880">
                <a:solidFill>
                  <a:srgbClr val="1E293B"/>
                </a:solidFill>
              </a:rPr>
              <a:t>• Hỏi đáp bám sát ngữ cảnh từng môn học</a:t>
            </a:r>
          </a:p>
          <a:p>
            <a:pPr>
              <a:spcBef>
                <a:spcPts val="300"/>
              </a:spcBef>
            </a:pPr>
            <a:r>
              <a:rPr sz="880">
                <a:solidFill>
                  <a:srgbClr val="1E293B"/>
                </a:solidFill>
              </a:rPr>
              <a:t>• Mô hình cục bộ bảo mật, không lộ đề</a:t>
            </a:r>
          </a:p>
          <a:p>
            <a:pPr>
              <a:spcBef>
                <a:spcPts val="300"/>
              </a:spcBef>
            </a:pPr>
            <a:r>
              <a:rPr sz="880">
                <a:solidFill>
                  <a:srgbClr val="1E293B"/>
                </a:solidFill>
              </a:rPr>
              <a:t>• Giải thích cặn kẽ thuật toán &amp; code</a:t>
            </a:r>
          </a:p>
          <a:p>
            <a:pPr>
              <a:spcBef>
                <a:spcPts val="300"/>
              </a:spcBef>
            </a:pPr>
            <a:r>
              <a:rPr sz="880">
                <a:solidFill>
                  <a:srgbClr val="1E293B"/>
                </a:solidFill>
              </a:rPr>
              <a:t>• Hỗ trợ streaming phản hồi siêu mượt</a:t>
            </a:r>
          </a:p>
        </p:txBody>
      </p:sp>
      <p:sp>
        <p:nvSpPr>
          <p:cNvPr id="15" name="Rounded Rectangle 14"/>
          <p:cNvSpPr/>
          <p:nvPr/>
        </p:nvSpPr>
        <p:spPr>
          <a:xfrm>
            <a:off x="5084064" y="1325880"/>
            <a:ext cx="2057400" cy="3840480"/>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09728" tIns="164592" rIns="109728" rtlCol="0" anchor="ctr"/>
          <a:lstStyle/>
          <a:p>
            <a:pPr algn="ctr">
              <a:defRPr sz="1000" b="1">
                <a:solidFill>
                  <a:srgbClr val="FF5C8A"/>
                </a:solidFill>
              </a:defRPr>
            </a:pPr>
            <a:r>
              <a:t>3. CẨM NANG ALL-IN-1</a:t>
            </a:r>
          </a:p>
          <a:p>
            <a:pPr>
              <a:defRPr sz="850" i="1">
                <a:solidFill>
                  <a:srgbClr val="64748B"/>
                </a:solidFill>
              </a:defRPr>
            </a:pPr>
            <a:r>
              <a:t>Học sâu &amp; Nhớ lâu</a:t>
            </a:r>
          </a:p>
          <a:p>
            <a:pPr>
              <a:defRPr sz="700">
                <a:solidFill>
                  <a:srgbClr val="FECDD3"/>
                </a:solidFill>
              </a:defRPr>
            </a:pPr>
            <a:r>
              <a:t>————————————————</a:t>
            </a:r>
          </a:p>
          <a:p>
            <a:pPr>
              <a:spcBef>
                <a:spcPts val="300"/>
              </a:spcBef>
            </a:pPr>
            <a:r>
              <a:rPr sz="880">
                <a:solidFill>
                  <a:srgbClr val="1E293B"/>
                </a:solidFill>
              </a:rPr>
              <a:t>• Tóm tắt kiến thức cốt lõi từng bài</a:t>
            </a:r>
          </a:p>
          <a:p>
            <a:pPr>
              <a:spcBef>
                <a:spcPts val="300"/>
              </a:spcBef>
            </a:pPr>
            <a:r>
              <a:rPr sz="880">
                <a:solidFill>
                  <a:srgbClr val="1E293B"/>
                </a:solidFill>
              </a:rPr>
              <a:t>• Ghi chú cá nhân tự động đồng bộ</a:t>
            </a:r>
          </a:p>
          <a:p>
            <a:pPr>
              <a:spcBef>
                <a:spcPts val="300"/>
              </a:spcBef>
            </a:pPr>
            <a:r>
              <a:rPr sz="880">
                <a:solidFill>
                  <a:srgbClr val="1E293B"/>
                </a:solidFill>
              </a:rPr>
              <a:t>• Kho câu hỏi làm sai để ôn tập lại</a:t>
            </a:r>
          </a:p>
          <a:p>
            <a:pPr>
              <a:spcBef>
                <a:spcPts val="300"/>
              </a:spcBef>
            </a:pPr>
            <a:r>
              <a:rPr sz="880">
                <a:solidFill>
                  <a:srgbClr val="1E293B"/>
                </a:solidFill>
              </a:rPr>
              <a:t>• Tích hợp tài liệu chính khóa CMC</a:t>
            </a:r>
          </a:p>
        </p:txBody>
      </p:sp>
      <p:sp>
        <p:nvSpPr>
          <p:cNvPr id="16" name="Rounded Rectangle 15"/>
          <p:cNvSpPr/>
          <p:nvPr/>
        </p:nvSpPr>
        <p:spPr>
          <a:xfrm>
            <a:off x="7260336" y="1325880"/>
            <a:ext cx="2057400" cy="38404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wrap="square" lIns="109728" tIns="164592" rIns="109728" rtlCol="0" anchor="ctr"/>
          <a:lstStyle/>
          <a:p>
            <a:pPr algn="ctr">
              <a:defRPr sz="1000" b="1">
                <a:solidFill>
                  <a:srgbClr val="F59E0B"/>
                </a:solidFill>
              </a:defRPr>
            </a:pPr>
            <a:r>
              <a:t>4. SERVERLESS CLOUDFLARE</a:t>
            </a:r>
          </a:p>
          <a:p>
            <a:pPr>
              <a:defRPr sz="850" i="1">
                <a:solidFill>
                  <a:srgbClr val="64748B"/>
                </a:solidFill>
              </a:defRPr>
            </a:pPr>
            <a:r>
              <a:t>Kiến trúc tương lai</a:t>
            </a:r>
          </a:p>
          <a:p>
            <a:pPr>
              <a:defRPr sz="700">
                <a:solidFill>
                  <a:srgbClr val="FECDD3"/>
                </a:solidFill>
              </a:defRPr>
            </a:pPr>
            <a:r>
              <a:t>————————————————</a:t>
            </a:r>
          </a:p>
          <a:p>
            <a:pPr>
              <a:spcBef>
                <a:spcPts val="300"/>
              </a:spcBef>
            </a:pPr>
            <a:r>
              <a:rPr sz="880">
                <a:solidFill>
                  <a:srgbClr val="1E293B"/>
                </a:solidFill>
              </a:rPr>
              <a:t>• Cloudflare D1 SQLite phân tán</a:t>
            </a:r>
          </a:p>
          <a:p>
            <a:pPr>
              <a:spcBef>
                <a:spcPts val="300"/>
              </a:spcBef>
            </a:pPr>
            <a:r>
              <a:rPr sz="880">
                <a:solidFill>
                  <a:srgbClr val="1E293B"/>
                </a:solidFill>
              </a:rPr>
              <a:t>• Độ trễ API cực thấp (&lt; 50ms)</a:t>
            </a:r>
          </a:p>
          <a:p>
            <a:pPr>
              <a:spcBef>
                <a:spcPts val="300"/>
              </a:spcBef>
            </a:pPr>
            <a:r>
              <a:rPr sz="880">
                <a:solidFill>
                  <a:srgbClr val="1E293B"/>
                </a:solidFill>
              </a:rPr>
              <a:t>• Chuẩn hóa CSDL 3NF (21 bảng)</a:t>
            </a:r>
          </a:p>
          <a:p>
            <a:pPr>
              <a:spcBef>
                <a:spcPts val="300"/>
              </a:spcBef>
            </a:pPr>
            <a:r>
              <a:rPr sz="880">
                <a:solidFill>
                  <a:srgbClr val="1E293B"/>
                </a:solidFill>
              </a:rPr>
              <a:t>• Chi phí vận hành tối ưu, sẵn sàng mở rộng</a:t>
            </a:r>
          </a:p>
        </p:txBody>
      </p:sp>
      <p:sp>
        <p:nvSpPr>
          <p:cNvPr id="17" name="Rounded Rectangle 16"/>
          <p:cNvSpPr/>
          <p:nvPr/>
        </p:nvSpPr>
        <p:spPr>
          <a:xfrm>
            <a:off x="9436608" y="1325880"/>
            <a:ext cx="2057400" cy="38404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109728" tIns="164592" rIns="109728" rtlCol="0" anchor="ctr"/>
          <a:lstStyle/>
          <a:p>
            <a:pPr algn="ctr">
              <a:defRPr sz="1000" b="1">
                <a:solidFill>
                  <a:srgbClr val="10B981"/>
                </a:solidFill>
              </a:defRPr>
            </a:pPr>
            <a:r>
              <a:t>5. TRẢI NGHIỆM ĐA NỀN TẢNG</a:t>
            </a:r>
          </a:p>
          <a:p>
            <a:pPr>
              <a:defRPr sz="850" i="1">
                <a:solidFill>
                  <a:srgbClr val="64748B"/>
                </a:solidFill>
              </a:defRPr>
            </a:pPr>
            <a:r>
              <a:t>Mọi lúc mọi nơi</a:t>
            </a:r>
          </a:p>
          <a:p>
            <a:pPr>
              <a:defRPr sz="700">
                <a:solidFill>
                  <a:srgbClr val="FECDD3"/>
                </a:solidFill>
              </a:defRPr>
            </a:pPr>
            <a:r>
              <a:t>————————————————</a:t>
            </a:r>
          </a:p>
          <a:p>
            <a:pPr>
              <a:spcBef>
                <a:spcPts val="300"/>
              </a:spcBef>
            </a:pPr>
            <a:r>
              <a:rPr sz="880">
                <a:solidFill>
                  <a:srgbClr val="1E293B"/>
                </a:solidFill>
              </a:rPr>
              <a:t>• Giao diện Responsive chuẩn di động</a:t>
            </a:r>
          </a:p>
          <a:p>
            <a:pPr>
              <a:spcBef>
                <a:spcPts val="300"/>
              </a:spcBef>
            </a:pPr>
            <a:r>
              <a:rPr sz="880">
                <a:solidFill>
                  <a:srgbClr val="1E293B"/>
                </a:solidFill>
              </a:rPr>
              <a:t>• Hiệu ứng âm thanh &amp; Mascot sinh động</a:t>
            </a:r>
          </a:p>
          <a:p>
            <a:pPr>
              <a:spcBef>
                <a:spcPts val="300"/>
              </a:spcBef>
            </a:pPr>
            <a:r>
              <a:rPr sz="880">
                <a:solidFill>
                  <a:srgbClr val="1E293B"/>
                </a:solidFill>
              </a:rPr>
              <a:t>• Lưu ngoại tuyến &amp; tự đồng bộ</a:t>
            </a:r>
          </a:p>
          <a:p>
            <a:pPr>
              <a:spcBef>
                <a:spcPts val="300"/>
              </a:spcBef>
            </a:pPr>
            <a:r>
              <a:rPr sz="880">
                <a:solidFill>
                  <a:srgbClr val="1E293B"/>
                </a:solidFill>
              </a:rPr>
              <a:t>• Tương thích mọi trình duyệt hiện đại</a:t>
            </a:r>
          </a:p>
        </p:txBody>
      </p:sp>
      <p:sp>
        <p:nvSpPr>
          <p:cNvPr id="18" name="Rounded Rectangle 17"/>
          <p:cNvSpPr/>
          <p:nvPr/>
        </p:nvSpPr>
        <p:spPr>
          <a:xfrm>
            <a:off x="731520" y="5303520"/>
            <a:ext cx="1188720" cy="1152144"/>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download (1)9.jpg"/>
          <p:cNvPicPr>
            <a:picLocks noChangeAspect="1"/>
          </p:cNvPicPr>
          <p:nvPr/>
        </p:nvPicPr>
        <p:blipFill>
          <a:blip r:embed="rId2"/>
          <a:stretch>
            <a:fillRect/>
          </a:stretch>
        </p:blipFill>
        <p:spPr>
          <a:xfrm>
            <a:off x="777240" y="5349240"/>
            <a:ext cx="1097280" cy="1097280"/>
          </a:xfrm>
          <a:prstGeom prst="rect">
            <a:avLst/>
          </a:prstGeom>
        </p:spPr>
      </p:pic>
      <p:sp>
        <p:nvSpPr>
          <p:cNvPr id="20" name="Rounded Rectangle 19"/>
          <p:cNvSpPr/>
          <p:nvPr/>
        </p:nvSpPr>
        <p:spPr>
          <a:xfrm>
            <a:off x="1993392" y="530352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Hầu Gái phục vụ chu đáo:</a:t>
            </a:r>
          </a:p>
          <a:p>
            <a:pPr>
              <a:defRPr sz="950" i="1">
                <a:solidFill>
                  <a:srgbClr val="1E293B"/>
                </a:solidFill>
                <a:latin typeface="Arial"/>
              </a:defRPr>
            </a:pPr>
            <a:r>
              <a:t>"5 trụ cột vững như bàn thạch! Thỏ cam kết vừa mang lại trải nghiệm giải trí mê mẩn, vừa chuẩn mực học thuật tuyệt đối cho sinh viên!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MỤC TIÊU SPRINT 1 &amp; TIÊU CHUẨN HOÀN THÀNH (DoD)</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05 / 14</a:t>
            </a:r>
          </a:p>
        </p:txBody>
      </p:sp>
      <p:sp>
        <p:nvSpPr>
          <p:cNvPr id="13" name="Rounded Rectangle 12"/>
          <p:cNvSpPr/>
          <p:nvPr/>
        </p:nvSpPr>
        <p:spPr>
          <a:xfrm>
            <a:off x="731520" y="1325880"/>
            <a:ext cx="5120640" cy="3749039"/>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228600" tIns="201168" rtlCol="0" anchor="ctr"/>
          <a:lstStyle/>
          <a:p>
            <a:pPr algn="ctr">
              <a:defRPr sz="1200" b="1">
                <a:solidFill>
                  <a:srgbClr val="E11D48"/>
                </a:solidFill>
              </a:defRPr>
            </a:pPr>
            <a:r>
              <a:t>🎯 TUYÊN BỐ MỤC TIÊU SPRINT 1 (SPRINT GOAL):</a:t>
            </a:r>
          </a:p>
          <a:p>
            <a:pPr>
              <a:spcBef>
                <a:spcPts val="400"/>
              </a:spcBef>
              <a:defRPr sz="1000" b="1">
                <a:solidFill>
                  <a:srgbClr val="FF5C8A"/>
                </a:solidFill>
              </a:defRPr>
            </a:pPr>
            <a:r>
              <a:t>⏱️ Khung thời gian: 05/10/2026 – 18/10/2026 (14 ngày chuẩn Scrum)</a:t>
            </a:r>
          </a:p>
          <a:p>
            <a:pPr>
              <a:spcBef>
                <a:spcPts val="300"/>
              </a:spcBef>
            </a:pPr>
            <a:r>
              <a:rPr sz="950" b="1">
                <a:solidFill>
                  <a:srgbClr val="1E293B"/>
                </a:solidFill>
              </a:rPr>
              <a:t>✓ Xây dựng kiến trúc phân tán Serverless: </a:t>
            </a:r>
            <a:r>
              <a:rPr sz="900">
                <a:solidFill>
                  <a:srgbClr val="64748B"/>
                </a:solidFill>
              </a:rPr>
              <a:t>Thiết lập Cloudflare D1 Edge Database và Worker API endpoints.</a:t>
            </a:r>
          </a:p>
          <a:p>
            <a:pPr>
              <a:spcBef>
                <a:spcPts val="300"/>
              </a:spcBef>
            </a:pPr>
            <a:r>
              <a:rPr sz="950" b="1">
                <a:solidFill>
                  <a:srgbClr val="1E293B"/>
                </a:solidFill>
              </a:rPr>
              <a:t>✓ Chuẩn hóa toàn diện CSDL 3NF: </a:t>
            </a:r>
            <a:r>
              <a:rPr sz="900">
                <a:solidFill>
                  <a:srgbClr val="64748B"/>
                </a:solidFill>
              </a:rPr>
              <a:t>Thiết kế 21 bảng, 108 thuộc tính và 11 quan hệ phẳng chuẩn đại học.</a:t>
            </a:r>
          </a:p>
          <a:p>
            <a:pPr>
              <a:spcBef>
                <a:spcPts val="300"/>
              </a:spcBef>
            </a:pPr>
            <a:r>
              <a:rPr sz="950" b="1">
                <a:solidFill>
                  <a:srgbClr val="1E293B"/>
                </a:solidFill>
              </a:rPr>
              <a:t>✓ Giao diện bản đồ học tập vượt ải: </a:t>
            </a:r>
            <a:r>
              <a:rPr sz="900">
                <a:solidFill>
                  <a:srgbClr val="64748B"/>
                </a:solidFill>
              </a:rPr>
              <a:t>Tích hợp 10 môn học chính khóa, 106 cửa ải chương và hơn 4.000 slide bài học.</a:t>
            </a:r>
          </a:p>
          <a:p>
            <a:pPr>
              <a:spcBef>
                <a:spcPts val="300"/>
              </a:spcBef>
            </a:pPr>
            <a:r>
              <a:rPr sz="950" b="1">
                <a:solidFill>
                  <a:srgbClr val="1E293B"/>
                </a:solidFill>
              </a:rPr>
              <a:t>✓ Động cơ Gamification tương tác: </a:t>
            </a:r>
            <a:r>
              <a:rPr sz="900">
                <a:solidFill>
                  <a:srgbClr val="64748B"/>
                </a:solidFill>
              </a:rPr>
              <a:t>Hoàn thiện cơ chế trừ Tim khi sai, thưởng Gems, duy trì Streak ngày học.</a:t>
            </a:r>
          </a:p>
          <a:p>
            <a:pPr>
              <a:spcBef>
                <a:spcPts val="300"/>
              </a:spcBef>
            </a:pPr>
            <a:r>
              <a:rPr sz="950" b="1">
                <a:solidFill>
                  <a:srgbClr val="1E293B"/>
                </a:solidFill>
              </a:rPr>
              <a:t>✓ Tích hợp trợ giảng AI RAG môn học: </a:t>
            </a:r>
            <a:r>
              <a:rPr sz="900">
                <a:solidFill>
                  <a:srgbClr val="64748B"/>
                </a:solidFill>
              </a:rPr>
              <a:t>Hỏi đáp tự động theo ngữ cảnh bài học, bảo mật câu hỏi kiểm tra.</a:t>
            </a:r>
          </a:p>
        </p:txBody>
      </p:sp>
      <p:sp>
        <p:nvSpPr>
          <p:cNvPr id="14" name="Rounded Rectangle 13"/>
          <p:cNvSpPr/>
          <p:nvPr/>
        </p:nvSpPr>
        <p:spPr>
          <a:xfrm>
            <a:off x="6126480" y="1325880"/>
            <a:ext cx="5303520" cy="3749039"/>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01168" rtlCol="0" anchor="ctr"/>
          <a:lstStyle/>
          <a:p>
            <a:pPr algn="ctr">
              <a:defRPr sz="1200" b="1">
                <a:solidFill>
                  <a:srgbClr val="10B981"/>
                </a:solidFill>
              </a:defRPr>
            </a:pPr>
            <a:r>
              <a:t>🛡️ ĐỊNH NGHĨA HOÀN THÀNH (DEFINITION OF DONE - DoD):</a:t>
            </a:r>
          </a:p>
          <a:p>
            <a:pPr>
              <a:spcBef>
                <a:spcPts val="400"/>
              </a:spcBef>
            </a:pPr>
            <a:r>
              <a:rPr sz="950" b="1">
                <a:solidFill>
                  <a:srgbClr val="10B981"/>
                </a:solidFill>
              </a:rPr>
              <a:t>★ Code Review &amp; Version Control: </a:t>
            </a:r>
            <a:r>
              <a:rPr sz="900">
                <a:solidFill>
                  <a:srgbClr val="1E293B"/>
                </a:solidFill>
              </a:rPr>
              <a:t>100% mã nguồn được push lên GitHub, tạo PR và có ít nhất 1 thành viên review trước khi merge main.</a:t>
            </a:r>
          </a:p>
          <a:p>
            <a:pPr>
              <a:spcBef>
                <a:spcPts val="400"/>
              </a:spcBef>
            </a:pPr>
            <a:r>
              <a:rPr sz="950" b="1">
                <a:solidFill>
                  <a:srgbClr val="10B981"/>
                </a:solidFill>
              </a:rPr>
              <a:t>★ Đáp ứng tiêu chí chấp nhận (AC): </a:t>
            </a:r>
            <a:r>
              <a:rPr sz="900">
                <a:solidFill>
                  <a:srgbClr val="1E293B"/>
                </a:solidFill>
              </a:rPr>
              <a:t>Tất cả Acceptance Criteria trong User Story đều được kiểm chứng và đạt kết quả mong muốn.</a:t>
            </a:r>
          </a:p>
          <a:p>
            <a:pPr>
              <a:spcBef>
                <a:spcPts val="400"/>
              </a:spcBef>
            </a:pPr>
            <a:r>
              <a:rPr sz="950" b="1">
                <a:solidFill>
                  <a:srgbClr val="10B981"/>
                </a:solidFill>
              </a:rPr>
              <a:t>★ Kiểm thử tự động &amp; API Test: </a:t>
            </a:r>
            <a:r>
              <a:rPr sz="900">
                <a:solidFill>
                  <a:srgbClr val="1E293B"/>
                </a:solidFill>
              </a:rPr>
              <a:t>Vượt qua toàn bộ kịch bản test API, dữ liệu mock và kiểm thử giao diện thực tế.</a:t>
            </a:r>
          </a:p>
          <a:p>
            <a:pPr>
              <a:spcBef>
                <a:spcPts val="400"/>
              </a:spcBef>
            </a:pPr>
            <a:r>
              <a:rPr sz="950" b="1">
                <a:solidFill>
                  <a:srgbClr val="10B981"/>
                </a:solidFill>
              </a:rPr>
              <a:t>★ Không tồn đọng lỗi nghiêm trọng: </a:t>
            </a:r>
            <a:r>
              <a:rPr sz="900">
                <a:solidFill>
                  <a:srgbClr val="1E293B"/>
                </a:solidFill>
              </a:rPr>
              <a:t>0 lỗi mức Critical / High blocker tồn đọng tại thời điểm đóng Sprint.</a:t>
            </a:r>
          </a:p>
          <a:p>
            <a:pPr>
              <a:spcBef>
                <a:spcPts val="400"/>
              </a:spcBef>
            </a:pPr>
            <a:r>
              <a:rPr sz="950" b="1">
                <a:solidFill>
                  <a:srgbClr val="10B981"/>
                </a:solidFill>
              </a:rPr>
              <a:t>★ Tài liệu hóa &amp; Báo cáo kỹ thuật: </a:t>
            </a:r>
            <a:r>
              <a:rPr sz="900">
                <a:solidFill>
                  <a:srgbClr val="1E293B"/>
                </a:solidFill>
              </a:rPr>
              <a:t>Hoàn thành sơ đồ CSDL ERD, cập nhật tài liệu kỹ thuật và file báo cáo tổng kết.</a:t>
            </a:r>
          </a:p>
        </p:txBody>
      </p:sp>
      <p:sp>
        <p:nvSpPr>
          <p:cNvPr id="15" name="Rounded Rectangle 14"/>
          <p:cNvSpPr/>
          <p:nvPr/>
        </p:nvSpPr>
        <p:spPr>
          <a:xfrm>
            <a:off x="731520" y="5257800"/>
            <a:ext cx="1234440" cy="1200150"/>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download99.jpg"/>
          <p:cNvPicPr>
            <a:picLocks noChangeAspect="1"/>
          </p:cNvPicPr>
          <p:nvPr/>
        </p:nvPicPr>
        <p:blipFill>
          <a:blip r:embed="rId3"/>
          <a:stretch>
            <a:fillRect/>
          </a:stretch>
        </p:blipFill>
        <p:spPr>
          <a:xfrm>
            <a:off x="777240" y="5303520"/>
            <a:ext cx="1143000" cy="642938"/>
          </a:xfrm>
          <a:prstGeom prst="rect">
            <a:avLst/>
          </a:prstGeom>
        </p:spPr>
      </p:pic>
      <p:sp>
        <p:nvSpPr>
          <p:cNvPr id="17" name="Rounded Rectangle 16"/>
          <p:cNvSpPr/>
          <p:nvPr/>
        </p:nvSpPr>
        <p:spPr>
          <a:xfrm>
            <a:off x="2039112" y="525780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Bảy Màu kiểm tra tiến độ:</a:t>
            </a:r>
          </a:p>
          <a:p>
            <a:pPr>
              <a:defRPr sz="950" i="1">
                <a:solidFill>
                  <a:srgbClr val="1E293B"/>
                </a:solidFill>
                <a:latin typeface="Arial"/>
              </a:defRPr>
            </a:pPr>
            <a:r>
              <a:t>"Làm việc chuẩn Scrum là nói có sách, mách có chứng! 5 tiêu chí DoD được kiểm tra nghiêm ngặt từng ly từng tí trước khi bấm nghiệm thu!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BẢNG SPRINT 1 BACKLOG &amp; NGHIỆM THU (100% DONE)</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06 / 14</a:t>
            </a:r>
          </a:p>
        </p:txBody>
      </p:sp>
      <p:graphicFrame>
        <p:nvGraphicFramePr>
          <p:cNvPr id="13" name="Table 12"/>
          <p:cNvGraphicFramePr>
            <a:graphicFrameLocks noGrp="1"/>
          </p:cNvGraphicFramePr>
          <p:nvPr/>
        </p:nvGraphicFramePr>
        <p:xfrm>
          <a:off x="731520" y="1280160"/>
          <a:ext cx="10728655" cy="384048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133295">
                  <a:extLst>
                    <a:ext uri="{9D8B030D-6E8A-4147-A177-3AD203B41FA5}">
                      <a16:colId xmlns:a16="http://schemas.microsoft.com/office/drawing/2014/main" val="20004"/>
                    </a:ext>
                  </a:extLst>
                </a:gridCol>
              </a:tblGrid>
              <a:tr h="349134">
                <a:tc>
                  <a:txBody>
                    <a:bodyPr/>
                    <a:lstStyle/>
                    <a:p>
                      <a:pPr algn="ctr">
                        <a:defRPr sz="1000" b="1">
                          <a:solidFill>
                            <a:srgbClr val="FFFFFF"/>
                          </a:solidFill>
                        </a:defRPr>
                      </a:pPr>
                      <a:r>
                        <a:t>MÃ US</a:t>
                      </a:r>
                    </a:p>
                  </a:txBody>
                  <a:tcPr>
                    <a:solidFill>
                      <a:srgbClr val="E11D48"/>
                    </a:solidFill>
                  </a:tcPr>
                </a:tc>
                <a:tc>
                  <a:txBody>
                    <a:bodyPr/>
                    <a:lstStyle/>
                    <a:p>
                      <a:pPr algn="ctr">
                        <a:defRPr sz="1000" b="1">
                          <a:solidFill>
                            <a:srgbClr val="FFFFFF"/>
                          </a:solidFill>
                        </a:defRPr>
                      </a:pPr>
                      <a:r>
                        <a:t>NỘI DUNG USER STORY</a:t>
                      </a:r>
                    </a:p>
                  </a:txBody>
                  <a:tcPr>
                    <a:solidFill>
                      <a:srgbClr val="E11D48"/>
                    </a:solidFill>
                  </a:tcPr>
                </a:tc>
                <a:tc>
                  <a:txBody>
                    <a:bodyPr/>
                    <a:lstStyle/>
                    <a:p>
                      <a:pPr algn="ctr">
                        <a:defRPr sz="1000" b="1">
                          <a:solidFill>
                            <a:srgbClr val="FFFFFF"/>
                          </a:solidFill>
                        </a:defRPr>
                      </a:pPr>
                      <a:r>
                        <a:t>NGƯỜI PHỤ TRÁCH</a:t>
                      </a:r>
                    </a:p>
                  </a:txBody>
                  <a:tcPr>
                    <a:solidFill>
                      <a:srgbClr val="E11D48"/>
                    </a:solidFill>
                  </a:tcPr>
                </a:tc>
                <a:tc>
                  <a:txBody>
                    <a:bodyPr/>
                    <a:lstStyle/>
                    <a:p>
                      <a:pPr algn="ctr">
                        <a:defRPr sz="1000" b="1">
                          <a:solidFill>
                            <a:srgbClr val="FFFFFF"/>
                          </a:solidFill>
                        </a:defRPr>
                      </a:pPr>
                      <a:r>
                        <a:t>ĐIỂM (SP)</a:t>
                      </a:r>
                    </a:p>
                  </a:txBody>
                  <a:tcPr>
                    <a:solidFill>
                      <a:srgbClr val="E11D48"/>
                    </a:solidFill>
                  </a:tcPr>
                </a:tc>
                <a:tc>
                  <a:txBody>
                    <a:bodyPr/>
                    <a:lstStyle/>
                    <a:p>
                      <a:pPr algn="ctr">
                        <a:defRPr sz="1000" b="1">
                          <a:solidFill>
                            <a:srgbClr val="FFFFFF"/>
                          </a:solidFill>
                        </a:defRPr>
                      </a:pPr>
                      <a:r>
                        <a:t>TRẠNG THÁI</a:t>
                      </a:r>
                    </a:p>
                  </a:txBody>
                  <a:tcPr>
                    <a:solidFill>
                      <a:srgbClr val="E11D48"/>
                    </a:solidFill>
                  </a:tcPr>
                </a:tc>
                <a:extLst>
                  <a:ext uri="{0D108BD9-81ED-4DB2-BD59-A6C34878D82A}">
                    <a16:rowId xmlns:a16="http://schemas.microsoft.com/office/drawing/2014/main" val="10000"/>
                  </a:ext>
                </a:extLst>
              </a:tr>
              <a:tr h="349134">
                <a:tc>
                  <a:txBody>
                    <a:bodyPr/>
                    <a:lstStyle/>
                    <a:p>
                      <a:pPr algn="ctr">
                        <a:defRPr sz="950" b="1"/>
                      </a:pPr>
                      <a:r>
                        <a:t>US-01</a:t>
                      </a:r>
                    </a:p>
                  </a:txBody>
                  <a:tcPr>
                    <a:solidFill>
                      <a:srgbClr val="FFF1F5"/>
                    </a:solidFill>
                  </a:tcPr>
                </a:tc>
                <a:tc>
                  <a:txBody>
                    <a:bodyPr/>
                    <a:lstStyle/>
                    <a:p>
                      <a:pPr>
                        <a:defRPr sz="950" b="1">
                          <a:solidFill>
                            <a:srgbClr val="1E293B"/>
                          </a:solidFill>
                        </a:defRPr>
                      </a:pPr>
                      <a:r>
                        <a:t>Khởi tạo kiến trúc Serverless &amp; Cloudflare D1</a:t>
                      </a:r>
                    </a:p>
                  </a:txBody>
                  <a:tcPr>
                    <a:solidFill>
                      <a:srgbClr val="FFF1F5"/>
                    </a:solidFill>
                  </a:tcPr>
                </a:tc>
                <a:tc>
                  <a:txBody>
                    <a:bodyPr/>
                    <a:lstStyle/>
                    <a:p>
                      <a:pPr>
                        <a:defRPr sz="950"/>
                      </a:pPr>
                      <a:r>
                        <a:t>Lê Văn An</a:t>
                      </a:r>
                    </a:p>
                  </a:txBody>
                  <a:tcPr>
                    <a:solidFill>
                      <a:srgbClr val="FFF1F5"/>
                    </a:solidFill>
                  </a:tcPr>
                </a:tc>
                <a:tc>
                  <a:txBody>
                    <a:bodyPr/>
                    <a:lstStyle/>
                    <a:p>
                      <a:pPr algn="ctr">
                        <a:defRPr sz="950" b="1"/>
                      </a:pPr>
                      <a:r>
                        <a:t>3 SP</a:t>
                      </a:r>
                    </a:p>
                  </a:txBody>
                  <a:tcPr>
                    <a:solidFill>
                      <a:srgbClr val="FFF1F5"/>
                    </a:solidFill>
                  </a:tcPr>
                </a:tc>
                <a:tc>
                  <a:txBody>
                    <a:bodyPr/>
                    <a:lstStyle/>
                    <a:p>
                      <a:pPr algn="ctr">
                        <a:defRPr sz="950" b="1">
                          <a:solidFill>
                            <a:srgbClr val="10B981"/>
                          </a:solidFill>
                        </a:defRPr>
                      </a:pPr>
                      <a:r>
                        <a:t>✅ 100% DONE</a:t>
                      </a:r>
                    </a:p>
                  </a:txBody>
                  <a:tcPr>
                    <a:solidFill>
                      <a:srgbClr val="FFF1F5"/>
                    </a:solidFill>
                  </a:tcPr>
                </a:tc>
                <a:extLst>
                  <a:ext uri="{0D108BD9-81ED-4DB2-BD59-A6C34878D82A}">
                    <a16:rowId xmlns:a16="http://schemas.microsoft.com/office/drawing/2014/main" val="10001"/>
                  </a:ext>
                </a:extLst>
              </a:tr>
              <a:tr h="349134">
                <a:tc>
                  <a:txBody>
                    <a:bodyPr/>
                    <a:lstStyle/>
                    <a:p>
                      <a:pPr algn="ctr">
                        <a:defRPr sz="950" b="1"/>
                      </a:pPr>
                      <a:r>
                        <a:t>US-02</a:t>
                      </a:r>
                    </a:p>
                  </a:txBody>
                  <a:tcPr>
                    <a:solidFill>
                      <a:srgbClr val="FFFFFF"/>
                    </a:solidFill>
                  </a:tcPr>
                </a:tc>
                <a:tc>
                  <a:txBody>
                    <a:bodyPr/>
                    <a:lstStyle/>
                    <a:p>
                      <a:pPr>
                        <a:defRPr sz="950" b="1">
                          <a:solidFill>
                            <a:srgbClr val="1E293B"/>
                          </a:solidFill>
                        </a:defRPr>
                      </a:pPr>
                      <a:r>
                        <a:t>Thiết kế &amp; chuẩn hóa CSDL 3NF (21 bảng)</a:t>
                      </a:r>
                    </a:p>
                  </a:txBody>
                  <a:tcPr>
                    <a:solidFill>
                      <a:srgbClr val="FFFFFF"/>
                    </a:solidFill>
                  </a:tcPr>
                </a:tc>
                <a:tc>
                  <a:txBody>
                    <a:bodyPr/>
                    <a:lstStyle/>
                    <a:p>
                      <a:pPr>
                        <a:defRPr sz="950"/>
                      </a:pPr>
                      <a:r>
                        <a:t>Nguyễn Văn Tú</a:t>
                      </a:r>
                    </a:p>
                  </a:txBody>
                  <a:tcPr>
                    <a:solidFill>
                      <a:srgbClr val="FFFFFF"/>
                    </a:solidFill>
                  </a:tcPr>
                </a:tc>
                <a:tc>
                  <a:txBody>
                    <a:bodyPr/>
                    <a:lstStyle/>
                    <a:p>
                      <a:pPr algn="ctr">
                        <a:defRPr sz="950" b="1"/>
                      </a:pPr>
                      <a:r>
                        <a:t>5 SP</a:t>
                      </a:r>
                    </a:p>
                  </a:txBody>
                  <a:tcPr>
                    <a:solidFill>
                      <a:srgbClr val="FFFFFF"/>
                    </a:solidFill>
                  </a:tcPr>
                </a:tc>
                <a:tc>
                  <a:txBody>
                    <a:bodyPr/>
                    <a:lstStyle/>
                    <a:p>
                      <a:pPr algn="ctr">
                        <a:defRPr sz="950" b="1">
                          <a:solidFill>
                            <a:srgbClr val="10B981"/>
                          </a:solidFill>
                        </a:defRPr>
                      </a:pPr>
                      <a:r>
                        <a:t>✅ 100% DONE</a:t>
                      </a:r>
                    </a:p>
                  </a:txBody>
                  <a:tcPr>
                    <a:solidFill>
                      <a:srgbClr val="FFFFFF"/>
                    </a:solidFill>
                  </a:tcPr>
                </a:tc>
                <a:extLst>
                  <a:ext uri="{0D108BD9-81ED-4DB2-BD59-A6C34878D82A}">
                    <a16:rowId xmlns:a16="http://schemas.microsoft.com/office/drawing/2014/main" val="10002"/>
                  </a:ext>
                </a:extLst>
              </a:tr>
              <a:tr h="349134">
                <a:tc>
                  <a:txBody>
                    <a:bodyPr/>
                    <a:lstStyle/>
                    <a:p>
                      <a:pPr algn="ctr">
                        <a:defRPr sz="950" b="1"/>
                      </a:pPr>
                      <a:r>
                        <a:t>US-03</a:t>
                      </a:r>
                    </a:p>
                  </a:txBody>
                  <a:tcPr>
                    <a:solidFill>
                      <a:srgbClr val="FFF1F5"/>
                    </a:solidFill>
                  </a:tcPr>
                </a:tc>
                <a:tc>
                  <a:txBody>
                    <a:bodyPr/>
                    <a:lstStyle/>
                    <a:p>
                      <a:pPr>
                        <a:defRPr sz="950" b="1">
                          <a:solidFill>
                            <a:srgbClr val="1E293B"/>
                          </a:solidFill>
                        </a:defRPr>
                      </a:pPr>
                      <a:r>
                        <a:t>Bản đồ học tập vượt ải &amp; 106 cửa ải chương</a:t>
                      </a:r>
                    </a:p>
                  </a:txBody>
                  <a:tcPr>
                    <a:solidFill>
                      <a:srgbClr val="FFF1F5"/>
                    </a:solidFill>
                  </a:tcPr>
                </a:tc>
                <a:tc>
                  <a:txBody>
                    <a:bodyPr/>
                    <a:lstStyle/>
                    <a:p>
                      <a:pPr>
                        <a:defRPr sz="950"/>
                      </a:pPr>
                      <a:r>
                        <a:t>Nguyễn Như Quỳnh</a:t>
                      </a:r>
                    </a:p>
                  </a:txBody>
                  <a:tcPr>
                    <a:solidFill>
                      <a:srgbClr val="FFF1F5"/>
                    </a:solidFill>
                  </a:tcPr>
                </a:tc>
                <a:tc>
                  <a:txBody>
                    <a:bodyPr/>
                    <a:lstStyle/>
                    <a:p>
                      <a:pPr algn="ctr">
                        <a:defRPr sz="950" b="1"/>
                      </a:pPr>
                      <a:r>
                        <a:t>5 SP</a:t>
                      </a:r>
                    </a:p>
                  </a:txBody>
                  <a:tcPr>
                    <a:solidFill>
                      <a:srgbClr val="FFF1F5"/>
                    </a:solidFill>
                  </a:tcPr>
                </a:tc>
                <a:tc>
                  <a:txBody>
                    <a:bodyPr/>
                    <a:lstStyle/>
                    <a:p>
                      <a:pPr algn="ctr">
                        <a:defRPr sz="950" b="1">
                          <a:solidFill>
                            <a:srgbClr val="10B981"/>
                          </a:solidFill>
                        </a:defRPr>
                      </a:pPr>
                      <a:r>
                        <a:t>✅ 100% DONE</a:t>
                      </a:r>
                    </a:p>
                  </a:txBody>
                  <a:tcPr>
                    <a:solidFill>
                      <a:srgbClr val="FFF1F5"/>
                    </a:solidFill>
                  </a:tcPr>
                </a:tc>
                <a:extLst>
                  <a:ext uri="{0D108BD9-81ED-4DB2-BD59-A6C34878D82A}">
                    <a16:rowId xmlns:a16="http://schemas.microsoft.com/office/drawing/2014/main" val="10003"/>
                  </a:ext>
                </a:extLst>
              </a:tr>
              <a:tr h="349134">
                <a:tc>
                  <a:txBody>
                    <a:bodyPr/>
                    <a:lstStyle/>
                    <a:p>
                      <a:pPr algn="ctr">
                        <a:defRPr sz="950" b="1"/>
                      </a:pPr>
                      <a:r>
                        <a:t>US-04</a:t>
                      </a:r>
                    </a:p>
                  </a:txBody>
                  <a:tcPr>
                    <a:solidFill>
                      <a:srgbClr val="FFFFFF"/>
                    </a:solidFill>
                  </a:tcPr>
                </a:tc>
                <a:tc>
                  <a:txBody>
                    <a:bodyPr/>
                    <a:lstStyle/>
                    <a:p>
                      <a:pPr>
                        <a:defRPr sz="950" b="1">
                          <a:solidFill>
                            <a:srgbClr val="1E293B"/>
                          </a:solidFill>
                        </a:defRPr>
                      </a:pPr>
                      <a:r>
                        <a:t>Trình xem slide bài học lý thuyết &amp; code mẫu</a:t>
                      </a:r>
                    </a:p>
                  </a:txBody>
                  <a:tcPr>
                    <a:solidFill>
                      <a:srgbClr val="FFFFFF"/>
                    </a:solidFill>
                  </a:tcPr>
                </a:tc>
                <a:tc>
                  <a:txBody>
                    <a:bodyPr/>
                    <a:lstStyle/>
                    <a:p>
                      <a:pPr>
                        <a:defRPr sz="950"/>
                      </a:pPr>
                      <a:r>
                        <a:t>Nguyễn Như Quỳnh</a:t>
                      </a:r>
                    </a:p>
                  </a:txBody>
                  <a:tcPr>
                    <a:solidFill>
                      <a:srgbClr val="FFFFFF"/>
                    </a:solidFill>
                  </a:tcPr>
                </a:tc>
                <a:tc>
                  <a:txBody>
                    <a:bodyPr/>
                    <a:lstStyle/>
                    <a:p>
                      <a:pPr algn="ctr">
                        <a:defRPr sz="950" b="1"/>
                      </a:pPr>
                      <a:r>
                        <a:t>5 SP</a:t>
                      </a:r>
                    </a:p>
                  </a:txBody>
                  <a:tcPr>
                    <a:solidFill>
                      <a:srgbClr val="FFFFFF"/>
                    </a:solidFill>
                  </a:tcPr>
                </a:tc>
                <a:tc>
                  <a:txBody>
                    <a:bodyPr/>
                    <a:lstStyle/>
                    <a:p>
                      <a:pPr algn="ctr">
                        <a:defRPr sz="950" b="1">
                          <a:solidFill>
                            <a:srgbClr val="10B981"/>
                          </a:solidFill>
                        </a:defRPr>
                      </a:pPr>
                      <a:r>
                        <a:t>✅ 100% DONE</a:t>
                      </a:r>
                    </a:p>
                  </a:txBody>
                  <a:tcPr>
                    <a:solidFill>
                      <a:srgbClr val="FFFFFF"/>
                    </a:solidFill>
                  </a:tcPr>
                </a:tc>
                <a:extLst>
                  <a:ext uri="{0D108BD9-81ED-4DB2-BD59-A6C34878D82A}">
                    <a16:rowId xmlns:a16="http://schemas.microsoft.com/office/drawing/2014/main" val="10004"/>
                  </a:ext>
                </a:extLst>
              </a:tr>
              <a:tr h="349134">
                <a:tc>
                  <a:txBody>
                    <a:bodyPr/>
                    <a:lstStyle/>
                    <a:p>
                      <a:pPr algn="ctr">
                        <a:defRPr sz="950" b="1"/>
                      </a:pPr>
                      <a:r>
                        <a:t>US-05</a:t>
                      </a:r>
                    </a:p>
                  </a:txBody>
                  <a:tcPr>
                    <a:solidFill>
                      <a:srgbClr val="FFF1F5"/>
                    </a:solidFill>
                  </a:tcPr>
                </a:tc>
                <a:tc>
                  <a:txBody>
                    <a:bodyPr/>
                    <a:lstStyle/>
                    <a:p>
                      <a:pPr>
                        <a:defRPr sz="950" b="1">
                          <a:solidFill>
                            <a:srgbClr val="1E293B"/>
                          </a:solidFill>
                        </a:defRPr>
                      </a:pPr>
                      <a:r>
                        <a:t>Hệ thống câu hỏi trắc nghiệm &amp; giải thích</a:t>
                      </a:r>
                    </a:p>
                  </a:txBody>
                  <a:tcPr>
                    <a:solidFill>
                      <a:srgbClr val="FFF1F5"/>
                    </a:solidFill>
                  </a:tcPr>
                </a:tc>
                <a:tc>
                  <a:txBody>
                    <a:bodyPr/>
                    <a:lstStyle/>
                    <a:p>
                      <a:pPr>
                        <a:defRPr sz="950"/>
                      </a:pPr>
                      <a:r>
                        <a:t>Lê Văn An</a:t>
                      </a:r>
                    </a:p>
                  </a:txBody>
                  <a:tcPr>
                    <a:solidFill>
                      <a:srgbClr val="FFF1F5"/>
                    </a:solidFill>
                  </a:tcPr>
                </a:tc>
                <a:tc>
                  <a:txBody>
                    <a:bodyPr/>
                    <a:lstStyle/>
                    <a:p>
                      <a:pPr algn="ctr">
                        <a:defRPr sz="950" b="1"/>
                      </a:pPr>
                      <a:r>
                        <a:t>5 SP</a:t>
                      </a:r>
                    </a:p>
                  </a:txBody>
                  <a:tcPr>
                    <a:solidFill>
                      <a:srgbClr val="FFF1F5"/>
                    </a:solidFill>
                  </a:tcPr>
                </a:tc>
                <a:tc>
                  <a:txBody>
                    <a:bodyPr/>
                    <a:lstStyle/>
                    <a:p>
                      <a:pPr algn="ctr">
                        <a:defRPr sz="950" b="1">
                          <a:solidFill>
                            <a:srgbClr val="10B981"/>
                          </a:solidFill>
                        </a:defRPr>
                      </a:pPr>
                      <a:r>
                        <a:t>✅ 100% DONE</a:t>
                      </a:r>
                    </a:p>
                  </a:txBody>
                  <a:tcPr>
                    <a:solidFill>
                      <a:srgbClr val="FFF1F5"/>
                    </a:solidFill>
                  </a:tcPr>
                </a:tc>
                <a:extLst>
                  <a:ext uri="{0D108BD9-81ED-4DB2-BD59-A6C34878D82A}">
                    <a16:rowId xmlns:a16="http://schemas.microsoft.com/office/drawing/2014/main" val="10005"/>
                  </a:ext>
                </a:extLst>
              </a:tr>
              <a:tr h="349134">
                <a:tc>
                  <a:txBody>
                    <a:bodyPr/>
                    <a:lstStyle/>
                    <a:p>
                      <a:pPr algn="ctr">
                        <a:defRPr sz="950" b="1"/>
                      </a:pPr>
                      <a:r>
                        <a:t>US-06</a:t>
                      </a:r>
                    </a:p>
                  </a:txBody>
                  <a:tcPr>
                    <a:solidFill>
                      <a:srgbClr val="FFFFFF"/>
                    </a:solidFill>
                  </a:tcPr>
                </a:tc>
                <a:tc>
                  <a:txBody>
                    <a:bodyPr/>
                    <a:lstStyle/>
                    <a:p>
                      <a:pPr>
                        <a:defRPr sz="950" b="1">
                          <a:solidFill>
                            <a:srgbClr val="1E293B"/>
                          </a:solidFill>
                        </a:defRPr>
                      </a:pPr>
                      <a:r>
                        <a:t>Cơ chế Gamification (Hearts, Gems, Streak)</a:t>
                      </a:r>
                    </a:p>
                  </a:txBody>
                  <a:tcPr>
                    <a:solidFill>
                      <a:srgbClr val="FFFFFF"/>
                    </a:solidFill>
                  </a:tcPr>
                </a:tc>
                <a:tc>
                  <a:txBody>
                    <a:bodyPr/>
                    <a:lstStyle/>
                    <a:p>
                      <a:pPr>
                        <a:defRPr sz="950"/>
                      </a:pPr>
                      <a:r>
                        <a:t>Nguyễn Như Quỳnh</a:t>
                      </a:r>
                    </a:p>
                  </a:txBody>
                  <a:tcPr>
                    <a:solidFill>
                      <a:srgbClr val="FFFFFF"/>
                    </a:solidFill>
                  </a:tcPr>
                </a:tc>
                <a:tc>
                  <a:txBody>
                    <a:bodyPr/>
                    <a:lstStyle/>
                    <a:p>
                      <a:pPr algn="ctr">
                        <a:defRPr sz="950" b="1"/>
                      </a:pPr>
                      <a:r>
                        <a:t>3 SP</a:t>
                      </a:r>
                    </a:p>
                  </a:txBody>
                  <a:tcPr>
                    <a:solidFill>
                      <a:srgbClr val="FFFFFF"/>
                    </a:solidFill>
                  </a:tcPr>
                </a:tc>
                <a:tc>
                  <a:txBody>
                    <a:bodyPr/>
                    <a:lstStyle/>
                    <a:p>
                      <a:pPr algn="ctr">
                        <a:defRPr sz="950" b="1">
                          <a:solidFill>
                            <a:srgbClr val="10B981"/>
                          </a:solidFill>
                        </a:defRPr>
                      </a:pPr>
                      <a:r>
                        <a:t>✅ 100% DONE</a:t>
                      </a:r>
                    </a:p>
                  </a:txBody>
                  <a:tcPr>
                    <a:solidFill>
                      <a:srgbClr val="FFFFFF"/>
                    </a:solidFill>
                  </a:tcPr>
                </a:tc>
                <a:extLst>
                  <a:ext uri="{0D108BD9-81ED-4DB2-BD59-A6C34878D82A}">
                    <a16:rowId xmlns:a16="http://schemas.microsoft.com/office/drawing/2014/main" val="10006"/>
                  </a:ext>
                </a:extLst>
              </a:tr>
              <a:tr h="349134">
                <a:tc>
                  <a:txBody>
                    <a:bodyPr/>
                    <a:lstStyle/>
                    <a:p>
                      <a:pPr algn="ctr">
                        <a:defRPr sz="950" b="1"/>
                      </a:pPr>
                      <a:r>
                        <a:t>US-07</a:t>
                      </a:r>
                    </a:p>
                  </a:txBody>
                  <a:tcPr>
                    <a:solidFill>
                      <a:srgbClr val="FFF1F5"/>
                    </a:solidFill>
                  </a:tcPr>
                </a:tc>
                <a:tc>
                  <a:txBody>
                    <a:bodyPr/>
                    <a:lstStyle/>
                    <a:p>
                      <a:pPr>
                        <a:defRPr sz="950" b="1">
                          <a:solidFill>
                            <a:srgbClr val="1E293B"/>
                          </a:solidFill>
                        </a:defRPr>
                      </a:pPr>
                      <a:r>
                        <a:t>Hồ sơ cá nhân &amp; Tủ 12 danh hiệu học viên</a:t>
                      </a:r>
                    </a:p>
                  </a:txBody>
                  <a:tcPr>
                    <a:solidFill>
                      <a:srgbClr val="FFF1F5"/>
                    </a:solidFill>
                  </a:tcPr>
                </a:tc>
                <a:tc>
                  <a:txBody>
                    <a:bodyPr/>
                    <a:lstStyle/>
                    <a:p>
                      <a:pPr>
                        <a:defRPr sz="950"/>
                      </a:pPr>
                      <a:r>
                        <a:t>Nguyễn Như Quỳnh</a:t>
                      </a:r>
                    </a:p>
                  </a:txBody>
                  <a:tcPr>
                    <a:solidFill>
                      <a:srgbClr val="FFF1F5"/>
                    </a:solidFill>
                  </a:tcPr>
                </a:tc>
                <a:tc>
                  <a:txBody>
                    <a:bodyPr/>
                    <a:lstStyle/>
                    <a:p>
                      <a:pPr algn="ctr">
                        <a:defRPr sz="950" b="1"/>
                      </a:pPr>
                      <a:r>
                        <a:t>3 SP</a:t>
                      </a:r>
                    </a:p>
                  </a:txBody>
                  <a:tcPr>
                    <a:solidFill>
                      <a:srgbClr val="FFF1F5"/>
                    </a:solidFill>
                  </a:tcPr>
                </a:tc>
                <a:tc>
                  <a:txBody>
                    <a:bodyPr/>
                    <a:lstStyle/>
                    <a:p>
                      <a:pPr algn="ctr">
                        <a:defRPr sz="950" b="1">
                          <a:solidFill>
                            <a:srgbClr val="10B981"/>
                          </a:solidFill>
                        </a:defRPr>
                      </a:pPr>
                      <a:r>
                        <a:t>✅ 100% DONE</a:t>
                      </a:r>
                    </a:p>
                  </a:txBody>
                  <a:tcPr>
                    <a:solidFill>
                      <a:srgbClr val="FFF1F5"/>
                    </a:solidFill>
                  </a:tcPr>
                </a:tc>
                <a:extLst>
                  <a:ext uri="{0D108BD9-81ED-4DB2-BD59-A6C34878D82A}">
                    <a16:rowId xmlns:a16="http://schemas.microsoft.com/office/drawing/2014/main" val="10007"/>
                  </a:ext>
                </a:extLst>
              </a:tr>
              <a:tr h="349134">
                <a:tc>
                  <a:txBody>
                    <a:bodyPr/>
                    <a:lstStyle/>
                    <a:p>
                      <a:pPr algn="ctr">
                        <a:defRPr sz="950" b="1"/>
                      </a:pPr>
                      <a:r>
                        <a:t>US-08</a:t>
                      </a:r>
                    </a:p>
                  </a:txBody>
                  <a:tcPr>
                    <a:solidFill>
                      <a:srgbClr val="FFFFFF"/>
                    </a:solidFill>
                  </a:tcPr>
                </a:tc>
                <a:tc>
                  <a:txBody>
                    <a:bodyPr/>
                    <a:lstStyle/>
                    <a:p>
                      <a:pPr>
                        <a:defRPr sz="950" b="1">
                          <a:solidFill>
                            <a:srgbClr val="1E293B"/>
                          </a:solidFill>
                        </a:defRPr>
                      </a:pPr>
                      <a:r>
                        <a:t>Trợ giảng AI RAG chuyên sâu từng môn học</a:t>
                      </a:r>
                    </a:p>
                  </a:txBody>
                  <a:tcPr>
                    <a:solidFill>
                      <a:srgbClr val="FFFFFF"/>
                    </a:solidFill>
                  </a:tcPr>
                </a:tc>
                <a:tc>
                  <a:txBody>
                    <a:bodyPr/>
                    <a:lstStyle/>
                    <a:p>
                      <a:pPr>
                        <a:defRPr sz="950"/>
                      </a:pPr>
                      <a:r>
                        <a:t>Lê Văn An</a:t>
                      </a:r>
                    </a:p>
                  </a:txBody>
                  <a:tcPr>
                    <a:solidFill>
                      <a:srgbClr val="FFFFFF"/>
                    </a:solidFill>
                  </a:tcPr>
                </a:tc>
                <a:tc>
                  <a:txBody>
                    <a:bodyPr/>
                    <a:lstStyle/>
                    <a:p>
                      <a:pPr algn="ctr">
                        <a:defRPr sz="950" b="1"/>
                      </a:pPr>
                      <a:r>
                        <a:t>5 SP</a:t>
                      </a:r>
                    </a:p>
                  </a:txBody>
                  <a:tcPr>
                    <a:solidFill>
                      <a:srgbClr val="FFFFFF"/>
                    </a:solidFill>
                  </a:tcPr>
                </a:tc>
                <a:tc>
                  <a:txBody>
                    <a:bodyPr/>
                    <a:lstStyle/>
                    <a:p>
                      <a:pPr algn="ctr">
                        <a:defRPr sz="950" b="1">
                          <a:solidFill>
                            <a:srgbClr val="10B981"/>
                          </a:solidFill>
                        </a:defRPr>
                      </a:pPr>
                      <a:r>
                        <a:t>✅ 100% DONE</a:t>
                      </a:r>
                    </a:p>
                  </a:txBody>
                  <a:tcPr>
                    <a:solidFill>
                      <a:srgbClr val="FFFFFF"/>
                    </a:solidFill>
                  </a:tcPr>
                </a:tc>
                <a:extLst>
                  <a:ext uri="{0D108BD9-81ED-4DB2-BD59-A6C34878D82A}">
                    <a16:rowId xmlns:a16="http://schemas.microsoft.com/office/drawing/2014/main" val="10008"/>
                  </a:ext>
                </a:extLst>
              </a:tr>
              <a:tr h="349134">
                <a:tc>
                  <a:txBody>
                    <a:bodyPr/>
                    <a:lstStyle/>
                    <a:p>
                      <a:pPr algn="ctr">
                        <a:defRPr sz="950" b="1"/>
                      </a:pPr>
                      <a:r>
                        <a:t>US-09</a:t>
                      </a:r>
                    </a:p>
                  </a:txBody>
                  <a:tcPr>
                    <a:solidFill>
                      <a:srgbClr val="FFF1F5"/>
                    </a:solidFill>
                  </a:tcPr>
                </a:tc>
                <a:tc>
                  <a:txBody>
                    <a:bodyPr/>
                    <a:lstStyle/>
                    <a:p>
                      <a:pPr>
                        <a:defRPr sz="950" b="1">
                          <a:solidFill>
                            <a:srgbClr val="1E293B"/>
                          </a:solidFill>
                        </a:defRPr>
                      </a:pPr>
                      <a:r>
                        <a:t>Cẩm nang ghi chú All-in-One theo bài học</a:t>
                      </a:r>
                    </a:p>
                  </a:txBody>
                  <a:tcPr>
                    <a:solidFill>
                      <a:srgbClr val="FFF1F5"/>
                    </a:solidFill>
                  </a:tcPr>
                </a:tc>
                <a:tc>
                  <a:txBody>
                    <a:bodyPr/>
                    <a:lstStyle/>
                    <a:p>
                      <a:pPr>
                        <a:defRPr sz="950"/>
                      </a:pPr>
                      <a:r>
                        <a:t>Nguyễn Văn Tú</a:t>
                      </a:r>
                    </a:p>
                  </a:txBody>
                  <a:tcPr>
                    <a:solidFill>
                      <a:srgbClr val="FFF1F5"/>
                    </a:solidFill>
                  </a:tcPr>
                </a:tc>
                <a:tc>
                  <a:txBody>
                    <a:bodyPr/>
                    <a:lstStyle/>
                    <a:p>
                      <a:pPr algn="ctr">
                        <a:defRPr sz="950" b="1"/>
                      </a:pPr>
                      <a:r>
                        <a:t>2 SP</a:t>
                      </a:r>
                    </a:p>
                  </a:txBody>
                  <a:tcPr>
                    <a:solidFill>
                      <a:srgbClr val="FFF1F5"/>
                    </a:solidFill>
                  </a:tcPr>
                </a:tc>
                <a:tc>
                  <a:txBody>
                    <a:bodyPr/>
                    <a:lstStyle/>
                    <a:p>
                      <a:pPr algn="ctr">
                        <a:defRPr sz="950" b="1">
                          <a:solidFill>
                            <a:srgbClr val="10B981"/>
                          </a:solidFill>
                        </a:defRPr>
                      </a:pPr>
                      <a:r>
                        <a:t>✅ 100% DONE</a:t>
                      </a:r>
                    </a:p>
                  </a:txBody>
                  <a:tcPr>
                    <a:solidFill>
                      <a:srgbClr val="FFF1F5"/>
                    </a:solidFill>
                  </a:tcPr>
                </a:tc>
                <a:extLst>
                  <a:ext uri="{0D108BD9-81ED-4DB2-BD59-A6C34878D82A}">
                    <a16:rowId xmlns:a16="http://schemas.microsoft.com/office/drawing/2014/main" val="10009"/>
                  </a:ext>
                </a:extLst>
              </a:tr>
              <a:tr h="349140">
                <a:tc>
                  <a:txBody>
                    <a:bodyPr/>
                    <a:lstStyle/>
                    <a:p>
                      <a:pPr algn="ctr">
                        <a:defRPr sz="950" b="1"/>
                      </a:pPr>
                      <a:r>
                        <a:t>US-10</a:t>
                      </a:r>
                    </a:p>
                  </a:txBody>
                  <a:tcPr>
                    <a:solidFill>
                      <a:srgbClr val="FFFFFF"/>
                    </a:solidFill>
                  </a:tcPr>
                </a:tc>
                <a:tc>
                  <a:txBody>
                    <a:bodyPr/>
                    <a:lstStyle/>
                    <a:p>
                      <a:pPr>
                        <a:defRPr sz="950" b="1">
                          <a:solidFill>
                            <a:srgbClr val="1E293B"/>
                          </a:solidFill>
                        </a:defRPr>
                      </a:pPr>
                      <a:r>
                        <a:t>Kiểm thử tự động &amp; Tối ưu hiệu năng tải</a:t>
                      </a:r>
                    </a:p>
                  </a:txBody>
                  <a:tcPr>
                    <a:solidFill>
                      <a:srgbClr val="FFFFFF"/>
                    </a:solidFill>
                  </a:tcPr>
                </a:tc>
                <a:tc>
                  <a:txBody>
                    <a:bodyPr/>
                    <a:lstStyle/>
                    <a:p>
                      <a:pPr>
                        <a:defRPr sz="950"/>
                      </a:pPr>
                      <a:r>
                        <a:t>Nguyễn Văn Tú</a:t>
                      </a:r>
                    </a:p>
                  </a:txBody>
                  <a:tcPr>
                    <a:solidFill>
                      <a:srgbClr val="FFFFFF"/>
                    </a:solidFill>
                  </a:tcPr>
                </a:tc>
                <a:tc>
                  <a:txBody>
                    <a:bodyPr/>
                    <a:lstStyle/>
                    <a:p>
                      <a:pPr algn="ctr">
                        <a:defRPr sz="950" b="1"/>
                      </a:pPr>
                      <a:r>
                        <a:t>2 SP</a:t>
                      </a:r>
                    </a:p>
                  </a:txBody>
                  <a:tcPr>
                    <a:solidFill>
                      <a:srgbClr val="FFFFFF"/>
                    </a:solidFill>
                  </a:tcPr>
                </a:tc>
                <a:tc>
                  <a:txBody>
                    <a:bodyPr/>
                    <a:lstStyle/>
                    <a:p>
                      <a:pPr algn="ctr">
                        <a:defRPr sz="950" b="1">
                          <a:solidFill>
                            <a:srgbClr val="10B981"/>
                          </a:solidFill>
                        </a:defRPr>
                      </a:pPr>
                      <a:r>
                        <a:t>✅ 100% DONE</a:t>
                      </a:r>
                    </a:p>
                  </a:txBody>
                  <a:tcPr>
                    <a:solidFill>
                      <a:srgbClr val="FFFFFF"/>
                    </a:solidFill>
                  </a:tcPr>
                </a:tc>
                <a:extLst>
                  <a:ext uri="{0D108BD9-81ED-4DB2-BD59-A6C34878D82A}">
                    <a16:rowId xmlns:a16="http://schemas.microsoft.com/office/drawing/2014/main" val="10010"/>
                  </a:ext>
                </a:extLst>
              </a:tr>
            </a:tbl>
          </a:graphicData>
        </a:graphic>
      </p:graphicFrame>
      <p:sp>
        <p:nvSpPr>
          <p:cNvPr id="14" name="Rounded Rectangle 13"/>
          <p:cNvSpPr/>
          <p:nvPr/>
        </p:nvSpPr>
        <p:spPr>
          <a:xfrm>
            <a:off x="731520" y="5303520"/>
            <a:ext cx="1188720" cy="1152144"/>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AoV.jpg"/>
          <p:cNvPicPr>
            <a:picLocks noChangeAspect="1"/>
          </p:cNvPicPr>
          <p:nvPr/>
        </p:nvPicPr>
        <p:blipFill>
          <a:blip r:embed="rId2"/>
          <a:stretch>
            <a:fillRect/>
          </a:stretch>
        </p:blipFill>
        <p:spPr>
          <a:xfrm>
            <a:off x="777240" y="5349240"/>
            <a:ext cx="1097280" cy="1097280"/>
          </a:xfrm>
          <a:prstGeom prst="rect">
            <a:avLst/>
          </a:prstGeom>
        </p:spPr>
      </p:pic>
      <p:sp>
        <p:nvSpPr>
          <p:cNvPr id="16" name="Rounded Rectangle 15"/>
          <p:cNvSpPr/>
          <p:nvPr/>
        </p:nvSpPr>
        <p:spPr>
          <a:xfrm>
            <a:off x="1993392" y="530352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Bảy Màu ăn mừng nón lá:</a:t>
            </a:r>
          </a:p>
          <a:p>
            <a:pPr>
              <a:defRPr sz="950" i="1">
                <a:solidFill>
                  <a:srgbClr val="1E293B"/>
                </a:solidFill>
                <a:latin typeface="Arial"/>
              </a:defRPr>
            </a:pPr>
            <a:r>
              <a:t>"38 trên 38 Story Points hoàn thành xuất sắc! Tỷ lệ cam kết 100%, không nợ một dòng code nào sang Sprint sau! Đỉnh nóc kịch trần luôn!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KIẾN TRÚC CƠ SỞ DỮ LIỆU ERD CHUẨN ĐẠI HỌC</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07 / 14</a:t>
            </a:r>
          </a:p>
        </p:txBody>
      </p:sp>
      <p:sp>
        <p:nvSpPr>
          <p:cNvPr id="13" name="Rounded Rectangle 12"/>
          <p:cNvSpPr/>
          <p:nvPr/>
        </p:nvSpPr>
        <p:spPr>
          <a:xfrm>
            <a:off x="731520" y="1325880"/>
            <a:ext cx="7132320" cy="3840480"/>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rd_preview.png"/>
          <p:cNvPicPr>
            <a:picLocks noChangeAspect="1"/>
          </p:cNvPicPr>
          <p:nvPr/>
        </p:nvPicPr>
        <p:blipFill>
          <a:blip r:embed="rId2"/>
          <a:stretch>
            <a:fillRect/>
          </a:stretch>
        </p:blipFill>
        <p:spPr>
          <a:xfrm>
            <a:off x="822960" y="1417320"/>
            <a:ext cx="6949440" cy="4458844"/>
          </a:xfrm>
          <a:prstGeom prst="rect">
            <a:avLst/>
          </a:prstGeom>
        </p:spPr>
      </p:pic>
      <p:sp>
        <p:nvSpPr>
          <p:cNvPr id="15" name="Rounded Rectangle 14"/>
          <p:cNvSpPr/>
          <p:nvPr/>
        </p:nvSpPr>
        <p:spPr>
          <a:xfrm>
            <a:off x="8046720" y="1325880"/>
            <a:ext cx="3413455" cy="384048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100" b="1">
                <a:solidFill>
                  <a:srgbClr val="E11D48"/>
                </a:solidFill>
              </a:defRPr>
            </a:pPr>
            <a:r>
              <a:t>📐 THÔNG SỐ CSDL CHUẨN 3NF:</a:t>
            </a:r>
          </a:p>
          <a:p>
            <a:pPr>
              <a:spcBef>
                <a:spcPts val="300"/>
              </a:spcBef>
            </a:pPr>
            <a:r>
              <a:rPr sz="950" b="1">
                <a:solidFill>
                  <a:srgbClr val="1E293B"/>
                </a:solidFill>
              </a:rPr>
              <a:t>• 21 Thực thể (Tables): </a:t>
            </a:r>
            <a:r>
              <a:rPr sz="900">
                <a:solidFill>
                  <a:srgbClr val="64748B"/>
                </a:solidFill>
              </a:rPr>
              <a:t>Phân tầng rõ ràng giữa Người dùng, Học liệu và Trợ giảng AI.</a:t>
            </a:r>
          </a:p>
          <a:p>
            <a:pPr>
              <a:spcBef>
                <a:spcPts val="300"/>
              </a:spcBef>
            </a:pPr>
            <a:r>
              <a:rPr sz="950" b="1">
                <a:solidFill>
                  <a:srgbClr val="1E293B"/>
                </a:solidFill>
              </a:rPr>
              <a:t>• 108 Thuộc tính (Fields): </a:t>
            </a:r>
            <a:r>
              <a:rPr sz="900">
                <a:solidFill>
                  <a:srgbClr val="64748B"/>
                </a:solidFill>
              </a:rPr>
              <a:t>Chuẩn hóa kiểu dữ liệu, định danh khóa chính PK, khóa ngoại FK và UQ.</a:t>
            </a:r>
          </a:p>
          <a:p>
            <a:pPr>
              <a:spcBef>
                <a:spcPts val="300"/>
              </a:spcBef>
            </a:pPr>
            <a:r>
              <a:rPr sz="950" b="1">
                <a:solidFill>
                  <a:srgbClr val="1E293B"/>
                </a:solidFill>
              </a:rPr>
              <a:t>• 11 Quan hệ chính cốt lõi: </a:t>
            </a:r>
            <a:r>
              <a:rPr sz="900">
                <a:solidFill>
                  <a:srgbClr val="64748B"/>
                </a:solidFill>
              </a:rPr>
              <a:t>Đồ thị phẳng (Planar Graph), luồng 1-N rõ ràng, 0 dây chéo nhau.</a:t>
            </a:r>
          </a:p>
          <a:p>
            <a:pPr>
              <a:spcBef>
                <a:spcPts val="300"/>
              </a:spcBef>
            </a:pPr>
            <a:r>
              <a:rPr sz="950" b="1">
                <a:solidFill>
                  <a:srgbClr val="1E293B"/>
                </a:solidFill>
              </a:rPr>
              <a:t>• Động cơ SQLite Cloudflare D1: </a:t>
            </a:r>
            <a:r>
              <a:rPr sz="900">
                <a:solidFill>
                  <a:srgbClr val="64748B"/>
                </a:solidFill>
              </a:rPr>
              <a:t>Lưu trữ phân tán tại Edge, tốc độ đọc truy vấn dưới 30ms.</a:t>
            </a:r>
          </a:p>
          <a:p>
            <a:pPr>
              <a:spcBef>
                <a:spcPts val="300"/>
              </a:spcBef>
            </a:pPr>
            <a:r>
              <a:rPr sz="950" b="1">
                <a:solidFill>
                  <a:srgbClr val="1E293B"/>
                </a:solidFill>
              </a:rPr>
              <a:t>• Phân hệ bài học phân cấp: </a:t>
            </a:r>
            <a:r>
              <a:rPr sz="900">
                <a:solidFill>
                  <a:srgbClr val="64748B"/>
                </a:solidFill>
              </a:rPr>
              <a:t>Subjects → Units → Lessons → Questions → User Mistakes.</a:t>
            </a:r>
          </a:p>
        </p:txBody>
      </p:sp>
      <p:sp>
        <p:nvSpPr>
          <p:cNvPr id="16" name="Rounded Rectangle 15"/>
          <p:cNvSpPr/>
          <p:nvPr/>
        </p:nvSpPr>
        <p:spPr>
          <a:xfrm>
            <a:off x="731520" y="5303520"/>
            <a:ext cx="1188720" cy="1152144"/>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download99.jpg"/>
          <p:cNvPicPr>
            <a:picLocks noChangeAspect="1"/>
          </p:cNvPicPr>
          <p:nvPr/>
        </p:nvPicPr>
        <p:blipFill>
          <a:blip r:embed="rId3"/>
          <a:stretch>
            <a:fillRect/>
          </a:stretch>
        </p:blipFill>
        <p:spPr>
          <a:xfrm>
            <a:off x="777240" y="5349240"/>
            <a:ext cx="1097280" cy="617220"/>
          </a:xfrm>
          <a:prstGeom prst="rect">
            <a:avLst/>
          </a:prstGeom>
        </p:spPr>
      </p:pic>
      <p:sp>
        <p:nvSpPr>
          <p:cNvPr id="18" name="Rounded Rectangle 17"/>
          <p:cNvSpPr/>
          <p:nvPr/>
        </p:nvSpPr>
        <p:spPr>
          <a:xfrm>
            <a:off x="1993392" y="530352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Bảy Màu tự hào:</a:t>
            </a:r>
          </a:p>
          <a:p>
            <a:pPr>
              <a:defRPr sz="950" i="1">
                <a:solidFill>
                  <a:srgbClr val="1E293B"/>
                </a:solidFill>
                <a:latin typeface="Arial"/>
              </a:defRPr>
            </a:pPr>
            <a:r>
              <a:t>"Sơ đồ ERD 21 bảng đi dây mạch in phẳng lì không chéo cọng nào! Vừa chuẩn chỉnh môn CSDL vừa sẵn sàng cho hàng triệu lượt thi đua!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SẢN PHẨM BÀN GIAO 1: BẢN ĐỒ LỘ TRÌNH VƯỢT ẢI</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08 / 14</a:t>
            </a:r>
          </a:p>
        </p:txBody>
      </p:sp>
      <p:sp>
        <p:nvSpPr>
          <p:cNvPr id="13" name="Rounded Rectangle 12"/>
          <p:cNvSpPr/>
          <p:nvPr/>
        </p:nvSpPr>
        <p:spPr>
          <a:xfrm>
            <a:off x="731520" y="1325880"/>
            <a:ext cx="5852160" cy="3840480"/>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creenshot 2026-10-18 180117.png"/>
          <p:cNvPicPr>
            <a:picLocks noChangeAspect="1"/>
          </p:cNvPicPr>
          <p:nvPr/>
        </p:nvPicPr>
        <p:blipFill>
          <a:blip r:embed="rId2"/>
          <a:stretch>
            <a:fillRect/>
          </a:stretch>
        </p:blipFill>
        <p:spPr>
          <a:xfrm>
            <a:off x="822960" y="1417320"/>
            <a:ext cx="5669280" cy="2788801"/>
          </a:xfrm>
          <a:prstGeom prst="rect">
            <a:avLst/>
          </a:prstGeom>
        </p:spPr>
      </p:pic>
      <p:sp>
        <p:nvSpPr>
          <p:cNvPr id="15" name="Rounded Rectangle 14"/>
          <p:cNvSpPr/>
          <p:nvPr/>
        </p:nvSpPr>
        <p:spPr>
          <a:xfrm>
            <a:off x="6766560" y="1325880"/>
            <a:ext cx="4693615" cy="384048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1150" b="1">
                <a:solidFill>
                  <a:srgbClr val="E11D48"/>
                </a:solidFill>
              </a:defRPr>
            </a:pPr>
            <a:r>
              <a:t>🗺️ ĐỘT PHÁ LỘ TRÌNH HỌC VƯỢT ẢI:</a:t>
            </a:r>
          </a:p>
          <a:p>
            <a:pPr>
              <a:spcBef>
                <a:spcPts val="300"/>
              </a:spcBef>
            </a:pPr>
            <a:r>
              <a:rPr sz="950" b="1">
                <a:solidFill>
                  <a:srgbClr val="FF5C8A"/>
                </a:solidFill>
              </a:rPr>
              <a:t>★ 10 Môn học chính thức: </a:t>
            </a:r>
            <a:r>
              <a:rPr sz="900">
                <a:solidFill>
                  <a:srgbClr val="1E293B"/>
                </a:solidFill>
              </a:rPr>
              <a:t>Tích hợp đầy đủ Toán rời rạc, Cấu trúc dữ liệu, Lập trình Web, Cơ sở dữ liệu...</a:t>
            </a:r>
          </a:p>
          <a:p>
            <a:pPr>
              <a:spcBef>
                <a:spcPts val="300"/>
              </a:spcBef>
            </a:pPr>
            <a:r>
              <a:rPr sz="950" b="1">
                <a:solidFill>
                  <a:srgbClr val="FF5C8A"/>
                </a:solidFill>
              </a:rPr>
              <a:t>★ 106 Cửa ải chương học: </a:t>
            </a:r>
            <a:r>
              <a:rPr sz="900">
                <a:solidFill>
                  <a:srgbClr val="1E293B"/>
                </a:solidFill>
              </a:rPr>
              <a:t>Lộ trình uốn lượn phong cách Duolingo, mở khóa từng ải tuần tự tạo cảm giác chinh phục.</a:t>
            </a:r>
          </a:p>
          <a:p>
            <a:pPr>
              <a:spcBef>
                <a:spcPts val="300"/>
              </a:spcBef>
            </a:pPr>
            <a:r>
              <a:rPr sz="950" b="1">
                <a:solidFill>
                  <a:srgbClr val="FF5C8A"/>
                </a:solidFill>
              </a:rPr>
              <a:t>★ 4.094 Slide bài học lý thuyết: </a:t>
            </a:r>
            <a:r>
              <a:rPr sz="900">
                <a:solidFill>
                  <a:srgbClr val="1E293B"/>
                </a:solidFill>
              </a:rPr>
              <a:t>Nội dung cô đọng, tích hợp code mẫu trực quan, hình vẽ và công thức sinh động.</a:t>
            </a:r>
          </a:p>
          <a:p>
            <a:pPr>
              <a:spcBef>
                <a:spcPts val="300"/>
              </a:spcBef>
            </a:pPr>
            <a:r>
              <a:rPr sz="950" b="1">
                <a:solidFill>
                  <a:srgbClr val="FF5C8A"/>
                </a:solidFill>
              </a:rPr>
              <a:t>★ 29.460 Câu trắc nghiệm thực tế: </a:t>
            </a:r>
            <a:r>
              <a:rPr sz="900">
                <a:solidFill>
                  <a:srgbClr val="1E293B"/>
                </a:solidFill>
              </a:rPr>
              <a:t>Ngân hàng câu hỏi đồ sộ kèm giải thích chi tiết khi trả lời sai.</a:t>
            </a:r>
          </a:p>
          <a:p>
            <a:pPr>
              <a:spcBef>
                <a:spcPts val="300"/>
              </a:spcBef>
            </a:pPr>
            <a:r>
              <a:rPr sz="950" b="1">
                <a:solidFill>
                  <a:srgbClr val="FF5C8A"/>
                </a:solidFill>
              </a:rPr>
              <a:t>★ Cẩm nang ghi chú All-in-One: </a:t>
            </a:r>
            <a:r>
              <a:rPr sz="900">
                <a:solidFill>
                  <a:srgbClr val="1E293B"/>
                </a:solidFill>
              </a:rPr>
              <a:t>Tự động liên kết và lưu trữ ghi chú của sinh viên ngay trong từng bài học.</a:t>
            </a:r>
          </a:p>
        </p:txBody>
      </p:sp>
      <p:sp>
        <p:nvSpPr>
          <p:cNvPr id="16" name="Rounded Rectangle 15"/>
          <p:cNvSpPr/>
          <p:nvPr/>
        </p:nvSpPr>
        <p:spPr>
          <a:xfrm>
            <a:off x="731520" y="5303520"/>
            <a:ext cx="1188720" cy="1152144"/>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download (2)9.jpg"/>
          <p:cNvPicPr>
            <a:picLocks noChangeAspect="1"/>
          </p:cNvPicPr>
          <p:nvPr/>
        </p:nvPicPr>
        <p:blipFill>
          <a:blip r:embed="rId3"/>
          <a:stretch>
            <a:fillRect/>
          </a:stretch>
        </p:blipFill>
        <p:spPr>
          <a:xfrm>
            <a:off x="777240" y="5349240"/>
            <a:ext cx="1097280" cy="1098773"/>
          </a:xfrm>
          <a:prstGeom prst="rect">
            <a:avLst/>
          </a:prstGeom>
        </p:spPr>
      </p:pic>
      <p:sp>
        <p:nvSpPr>
          <p:cNvPr id="18" name="Rounded Rectangle 17"/>
          <p:cNvSpPr/>
          <p:nvPr/>
        </p:nvSpPr>
        <p:spPr>
          <a:xfrm>
            <a:off x="1993392" y="530352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Kiếm Sĩ xung trận:</a:t>
            </a:r>
          </a:p>
          <a:p>
            <a:pPr>
              <a:defRPr sz="950" i="1">
                <a:solidFill>
                  <a:srgbClr val="1E293B"/>
                </a:solidFill>
                <a:latin typeface="Arial"/>
              </a:defRPr>
            </a:pPr>
            <a:r>
              <a:t>"Hơn 29 ngàn câu hỏi và 106 cửa ải thử thách! Cứ vượt qua 1 ải là tích lũy kinh nghiệm, thăng cấp vùn vụt, học mà mê như chơi game!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SẢN PHẨM BÀN GIAO 2: HỒ SƠ HỌC VIÊN &amp; GAMIFICATION</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09 / 14</a:t>
            </a:r>
          </a:p>
        </p:txBody>
      </p:sp>
      <p:sp>
        <p:nvSpPr>
          <p:cNvPr id="13" name="Rounded Rectangle 12"/>
          <p:cNvSpPr/>
          <p:nvPr/>
        </p:nvSpPr>
        <p:spPr>
          <a:xfrm>
            <a:off x="731520" y="1325880"/>
            <a:ext cx="5852160" cy="3840480"/>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creenshot 2026-10-18 180227.png"/>
          <p:cNvPicPr>
            <a:picLocks noChangeAspect="1"/>
          </p:cNvPicPr>
          <p:nvPr/>
        </p:nvPicPr>
        <p:blipFill>
          <a:blip r:embed="rId2"/>
          <a:stretch>
            <a:fillRect/>
          </a:stretch>
        </p:blipFill>
        <p:spPr>
          <a:xfrm>
            <a:off x="822960" y="1417320"/>
            <a:ext cx="5669280" cy="2781324"/>
          </a:xfrm>
          <a:prstGeom prst="rect">
            <a:avLst/>
          </a:prstGeom>
        </p:spPr>
      </p:pic>
      <p:sp>
        <p:nvSpPr>
          <p:cNvPr id="15" name="Rounded Rectangle 14"/>
          <p:cNvSpPr/>
          <p:nvPr/>
        </p:nvSpPr>
        <p:spPr>
          <a:xfrm>
            <a:off x="6766560" y="1325880"/>
            <a:ext cx="4693615" cy="384048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1150" b="1">
                <a:solidFill>
                  <a:srgbClr val="E11D48"/>
                </a:solidFill>
              </a:defRPr>
            </a:pPr>
            <a:r>
              <a:t>🏆 HỆ SINH THÁI GAMIFICATION ĐỈNH CAO:</a:t>
            </a:r>
          </a:p>
          <a:p>
            <a:pPr>
              <a:spcBef>
                <a:spcPts val="300"/>
              </a:spcBef>
            </a:pPr>
            <a:r>
              <a:rPr sz="950" b="1">
                <a:solidFill>
                  <a:srgbClr val="1E293B"/>
                </a:solidFill>
              </a:rPr>
              <a:t>• ❤️ Cơ chế 5 Trái Tim (Hearts): </a:t>
            </a:r>
            <a:r>
              <a:rPr sz="900">
                <a:solidFill>
                  <a:srgbClr val="64748B"/>
                </a:solidFill>
              </a:rPr>
              <a:t>Sinh viên có 5 tim, làm sai trừ 1 tim. Tạo áp lực tư duy cẩn thận, tự hồi tim theo thời gian.</a:t>
            </a:r>
          </a:p>
          <a:p>
            <a:pPr>
              <a:spcBef>
                <a:spcPts val="300"/>
              </a:spcBef>
            </a:pPr>
            <a:r>
              <a:rPr sz="950" b="1">
                <a:solidFill>
                  <a:srgbClr val="1E293B"/>
                </a:solidFill>
              </a:rPr>
              <a:t>• 💎 Đá Quý (Gems) &amp; Điểm XP: </a:t>
            </a:r>
            <a:r>
              <a:rPr sz="900">
                <a:solidFill>
                  <a:srgbClr val="64748B"/>
                </a:solidFill>
              </a:rPr>
              <a:t>Phần thưởng xứng đáng cho mỗi bài học hoàn thành, dùng để mua vật phẩm bổ trợ.</a:t>
            </a:r>
          </a:p>
          <a:p>
            <a:pPr>
              <a:spcBef>
                <a:spcPts val="300"/>
              </a:spcBef>
            </a:pPr>
            <a:r>
              <a:rPr sz="950" b="1">
                <a:solidFill>
                  <a:srgbClr val="1E293B"/>
                </a:solidFill>
              </a:rPr>
              <a:t>• 🔥 Chuỗi Ngày Học (Streak Lửa): </a:t>
            </a:r>
            <a:r>
              <a:rPr sz="900">
                <a:solidFill>
                  <a:srgbClr val="64748B"/>
                </a:solidFill>
              </a:rPr>
              <a:t>Đếm chuỗi ngày tự học liên tục, thôi thúc sinh viên vào app mỗi ngày để giữ lửa.</a:t>
            </a:r>
          </a:p>
          <a:p>
            <a:pPr>
              <a:spcBef>
                <a:spcPts val="300"/>
              </a:spcBef>
            </a:pPr>
            <a:r>
              <a:rPr sz="950" b="1">
                <a:solidFill>
                  <a:srgbClr val="1E293B"/>
                </a:solidFill>
              </a:rPr>
              <a:t>• 🎖️ Tủ Huy Hiệu 12 Danh Hiệu: </a:t>
            </a:r>
            <a:r>
              <a:rPr sz="900">
                <a:solidFill>
                  <a:srgbClr val="64748B"/>
                </a:solidFill>
              </a:rPr>
              <a:t>Ghi nhận từng cột mốc (Học sinh chăm ngoan, Chiến thần code, Bậc thầy thuật toán...).</a:t>
            </a:r>
          </a:p>
          <a:p>
            <a:pPr>
              <a:spcBef>
                <a:spcPts val="300"/>
              </a:spcBef>
            </a:pPr>
            <a:r>
              <a:rPr sz="950" b="1">
                <a:solidFill>
                  <a:srgbClr val="1E293B"/>
                </a:solidFill>
              </a:rPr>
              <a:t>• 🎒 Túi Đồ &amp; Trang Bị Cá Nhân: </a:t>
            </a:r>
            <a:r>
              <a:rPr sz="900">
                <a:solidFill>
                  <a:srgbClr val="64748B"/>
                </a:solidFill>
              </a:rPr>
              <a:t>Lưu trữ bình máu, bùa bảo vệ chuỗi streak và avatar tùy biến cho học viên.</a:t>
            </a:r>
          </a:p>
        </p:txBody>
      </p:sp>
      <p:sp>
        <p:nvSpPr>
          <p:cNvPr id="16" name="Rounded Rectangle 15"/>
          <p:cNvSpPr/>
          <p:nvPr/>
        </p:nvSpPr>
        <p:spPr>
          <a:xfrm>
            <a:off x="731520" y="5303520"/>
            <a:ext cx="1188720" cy="1152144"/>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download.jpg"/>
          <p:cNvPicPr>
            <a:picLocks noChangeAspect="1"/>
          </p:cNvPicPr>
          <p:nvPr/>
        </p:nvPicPr>
        <p:blipFill>
          <a:blip r:embed="rId3"/>
          <a:stretch>
            <a:fillRect/>
          </a:stretch>
        </p:blipFill>
        <p:spPr>
          <a:xfrm>
            <a:off x="777240" y="5349240"/>
            <a:ext cx="1097280" cy="1097280"/>
          </a:xfrm>
          <a:prstGeom prst="rect">
            <a:avLst/>
          </a:prstGeom>
        </p:spPr>
      </p:pic>
      <p:sp>
        <p:nvSpPr>
          <p:cNvPr id="18" name="Rounded Rectangle 17"/>
          <p:cNvSpPr/>
          <p:nvPr/>
        </p:nvSpPr>
        <p:spPr>
          <a:xfrm>
            <a:off x="1993392" y="530352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Bảy Màu trao giải:</a:t>
            </a:r>
          </a:p>
          <a:p>
            <a:pPr>
              <a:defRPr sz="950" i="1">
                <a:solidFill>
                  <a:srgbClr val="1E293B"/>
                </a:solidFill>
                <a:latin typeface="Arial"/>
              </a:defRPr>
            </a:pPr>
            <a:r>
              <a:t>"Trang cá nhân lung linh với tủ huy hiệu sáng choang! Ai chăm học là Thỏ phát thưởng Gems rủng rỉnh, chuỗi Streak cháy rực rỡ luôn!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SẢN PHẨM BÀN GIAO 3: TRỢ GIẢNG "HỎI 3TG AI"</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10 / 14</a:t>
            </a:r>
          </a:p>
        </p:txBody>
      </p:sp>
      <p:sp>
        <p:nvSpPr>
          <p:cNvPr id="13" name="Rounded Rectangle 12"/>
          <p:cNvSpPr/>
          <p:nvPr/>
        </p:nvSpPr>
        <p:spPr>
          <a:xfrm>
            <a:off x="731520" y="1325880"/>
            <a:ext cx="5852160" cy="3840480"/>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Screenshot 2026-10-18 180301.png"/>
          <p:cNvPicPr>
            <a:picLocks noChangeAspect="1"/>
          </p:cNvPicPr>
          <p:nvPr/>
        </p:nvPicPr>
        <p:blipFill>
          <a:blip r:embed="rId2"/>
          <a:stretch>
            <a:fillRect/>
          </a:stretch>
        </p:blipFill>
        <p:spPr>
          <a:xfrm>
            <a:off x="822960" y="1417320"/>
            <a:ext cx="5669280" cy="2800595"/>
          </a:xfrm>
          <a:prstGeom prst="rect">
            <a:avLst/>
          </a:prstGeom>
        </p:spPr>
      </p:pic>
      <p:sp>
        <p:nvSpPr>
          <p:cNvPr id="15" name="Rounded Rectangle 14"/>
          <p:cNvSpPr/>
          <p:nvPr/>
        </p:nvSpPr>
        <p:spPr>
          <a:xfrm>
            <a:off x="6766560" y="1325880"/>
            <a:ext cx="4693615" cy="384048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wrap="square" lIns="228600" tIns="182880" rtlCol="0" anchor="ctr"/>
          <a:lstStyle/>
          <a:p>
            <a:pPr algn="ctr">
              <a:defRPr sz="1150" b="1">
                <a:solidFill>
                  <a:srgbClr val="E11D48"/>
                </a:solidFill>
              </a:defRPr>
            </a:pPr>
            <a:r>
              <a:t>🤖 CÔNG NGHỆ TRỢ GIẢNG AI ĐỘT PHÁ:</a:t>
            </a:r>
          </a:p>
          <a:p>
            <a:pPr>
              <a:spcBef>
                <a:spcPts val="300"/>
              </a:spcBef>
            </a:pPr>
            <a:r>
              <a:rPr sz="950" b="1">
                <a:solidFill>
                  <a:srgbClr val="8B5CF6"/>
                </a:solidFill>
              </a:rPr>
              <a:t>★ 🔒 RAG Riêng Tư &amp; Bảo Mật Tuyệt Đối: </a:t>
            </a:r>
            <a:r>
              <a:rPr sz="900">
                <a:solidFill>
                  <a:srgbClr val="1E293B"/>
                </a:solidFill>
              </a:rPr>
              <a:t>Tra cứu ngữ cảnh từ giáo trình thuần văn bản, tuyệt đối cách ly không lộ ngân hàng đề thi.</a:t>
            </a:r>
          </a:p>
          <a:p>
            <a:pPr>
              <a:spcBef>
                <a:spcPts val="300"/>
              </a:spcBef>
            </a:pPr>
            <a:r>
              <a:rPr sz="950" b="1">
                <a:solidFill>
                  <a:srgbClr val="8B5CF6"/>
                </a:solidFill>
              </a:rPr>
              <a:t>★ 🎯 Chọn Ngữ Cảnh Chuyên Sâu Từng Môn: </a:t>
            </a:r>
            <a:r>
              <a:rPr sz="900">
                <a:solidFill>
                  <a:srgbClr val="1E293B"/>
                </a:solidFill>
              </a:rPr>
              <a:t>Học viên học môn nào thì AI trả lời chuyên sâu môn đó, không bị lan man ngoài lề.</a:t>
            </a:r>
          </a:p>
          <a:p>
            <a:pPr>
              <a:spcBef>
                <a:spcPts val="300"/>
              </a:spcBef>
            </a:pPr>
            <a:r>
              <a:rPr sz="950" b="1">
                <a:solidFill>
                  <a:srgbClr val="8B5CF6"/>
                </a:solidFill>
              </a:rPr>
              <a:t>★ ⚡ Phản Hồi Dạng Streaming Siêu Mượt: </a:t>
            </a:r>
            <a:r>
              <a:rPr sz="900">
                <a:solidFill>
                  <a:srgbClr val="1E293B"/>
                </a:solidFill>
              </a:rPr>
              <a:t>Công nghệ truyền tin tức thì, sinh viên không phải chờ đợi lâu.</a:t>
            </a:r>
          </a:p>
          <a:p>
            <a:pPr>
              <a:spcBef>
                <a:spcPts val="300"/>
              </a:spcBef>
            </a:pPr>
            <a:r>
              <a:rPr sz="950" b="1">
                <a:solidFill>
                  <a:srgbClr val="8B5CF6"/>
                </a:solidFill>
              </a:rPr>
              <a:t>★ 💡 Định Dạng Markdown &amp; Code Highlighter: </a:t>
            </a:r>
            <a:r>
              <a:rPr sz="900">
                <a:solidFill>
                  <a:srgbClr val="1E293B"/>
                </a:solidFill>
              </a:rPr>
              <a:t>Hiển thị code Python, C++, Java, SQL có màu sắc và thụt lề chuẩn chỉ.</a:t>
            </a:r>
          </a:p>
          <a:p>
            <a:pPr>
              <a:spcBef>
                <a:spcPts val="300"/>
              </a:spcBef>
            </a:pPr>
            <a:r>
              <a:rPr sz="950" b="1">
                <a:solidFill>
                  <a:srgbClr val="8B5CF6"/>
                </a:solidFill>
              </a:rPr>
              <a:t>★ 💬 Phong Cách Sư Phạm Tận Tụy: </a:t>
            </a:r>
            <a:r>
              <a:rPr sz="900">
                <a:solidFill>
                  <a:srgbClr val="1E293B"/>
                </a:solidFill>
              </a:rPr>
              <a:t>Gợi ý từng bước tư duy thay vì làm hộ, giúp sinh viên thực sự hiểu bản chất bài học.</a:t>
            </a:r>
          </a:p>
        </p:txBody>
      </p:sp>
      <p:sp>
        <p:nvSpPr>
          <p:cNvPr id="16" name="Rounded Rectangle 15"/>
          <p:cNvSpPr/>
          <p:nvPr/>
        </p:nvSpPr>
        <p:spPr>
          <a:xfrm>
            <a:off x="731520" y="5303520"/>
            <a:ext cx="1188720" cy="1152144"/>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hỏ bảy màu.jpg"/>
          <p:cNvPicPr>
            <a:picLocks noChangeAspect="1"/>
          </p:cNvPicPr>
          <p:nvPr/>
        </p:nvPicPr>
        <p:blipFill>
          <a:blip r:embed="rId3"/>
          <a:stretch>
            <a:fillRect/>
          </a:stretch>
        </p:blipFill>
        <p:spPr>
          <a:xfrm>
            <a:off x="777240" y="5349240"/>
            <a:ext cx="1097280" cy="1097280"/>
          </a:xfrm>
          <a:prstGeom prst="rect">
            <a:avLst/>
          </a:prstGeom>
        </p:spPr>
      </p:pic>
      <p:sp>
        <p:nvSpPr>
          <p:cNvPr id="18" name="Rounded Rectangle 17"/>
          <p:cNvSpPr/>
          <p:nvPr/>
        </p:nvSpPr>
        <p:spPr>
          <a:xfrm>
            <a:off x="1993392" y="530352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Giáo Sư AI:</a:t>
            </a:r>
          </a:p>
          <a:p>
            <a:pPr>
              <a:defRPr sz="950" i="1">
                <a:solidFill>
                  <a:srgbClr val="1E293B"/>
                </a:solidFill>
                <a:latin typeface="Arial"/>
              </a:defRPr>
            </a:pPr>
            <a:r>
              <a:t>"Gặp bài tập khó? Đừng hoang mang! Có Trợ giảng AI 3TG giải thích tận tình từng dòng code, học đêm học ngày không lo cô đơn nha!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CHỈ SỐ HIỆU SUẤT SPRINT 1 (VELOCITY &amp; METRICS)</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11 / 14</a:t>
            </a:r>
          </a:p>
        </p:txBody>
      </p:sp>
      <p:sp>
        <p:nvSpPr>
          <p:cNvPr id="13" name="Rounded Rectangle 12"/>
          <p:cNvSpPr/>
          <p:nvPr/>
        </p:nvSpPr>
        <p:spPr>
          <a:xfrm>
            <a:off x="731520" y="1325880"/>
            <a:ext cx="2560320" cy="1645920"/>
          </a:xfrm>
          <a:prstGeom prst="roundRect">
            <a:avLst/>
          </a:prstGeom>
          <a:solidFill>
            <a:srgbClr val="FFFFFF"/>
          </a:solidFill>
          <a:ln w="22860">
            <a:solidFill>
              <a:srgbClr val="E11D48"/>
            </a:solidFill>
          </a:ln>
        </p:spPr>
        <p:style>
          <a:lnRef idx="1">
            <a:schemeClr val="accent1"/>
          </a:lnRef>
          <a:fillRef idx="3">
            <a:schemeClr val="accent1"/>
          </a:fillRef>
          <a:effectRef idx="2">
            <a:schemeClr val="accent1"/>
          </a:effectRef>
          <a:fontRef idx="minor">
            <a:schemeClr val="lt1"/>
          </a:fontRef>
        </p:style>
        <p:txBody>
          <a:bodyPr wrap="square" tIns="164592" rtlCol="0" anchor="ctr"/>
          <a:lstStyle/>
          <a:p>
            <a:pPr algn="ctr">
              <a:defRPr sz="2800" b="1">
                <a:solidFill>
                  <a:srgbClr val="E11D48"/>
                </a:solidFill>
              </a:defRPr>
            </a:pPr>
            <a:r>
              <a:t>38 SP</a:t>
            </a:r>
          </a:p>
          <a:p>
            <a:pPr algn="ctr">
              <a:defRPr sz="1000" b="1">
                <a:solidFill>
                  <a:srgbClr val="1E293B"/>
                </a:solidFill>
              </a:defRPr>
            </a:pPr>
            <a:r>
              <a:t>VELOCITY HOÀN THÀNH</a:t>
            </a:r>
          </a:p>
          <a:p>
            <a:pPr algn="ctr">
              <a:defRPr sz="850">
                <a:solidFill>
                  <a:srgbClr val="64748B"/>
                </a:solidFill>
              </a:defRPr>
            </a:pPr>
            <a:r>
              <a:t>100% mục tiêu cam kết ban đầu</a:t>
            </a:r>
          </a:p>
        </p:txBody>
      </p:sp>
      <p:sp>
        <p:nvSpPr>
          <p:cNvPr id="14" name="Rounded Rectangle 13"/>
          <p:cNvSpPr/>
          <p:nvPr/>
        </p:nvSpPr>
        <p:spPr>
          <a:xfrm>
            <a:off x="3456432" y="1325880"/>
            <a:ext cx="2560320" cy="1645920"/>
          </a:xfrm>
          <a:prstGeom prst="roundRect">
            <a:avLst/>
          </a:prstGeom>
          <a:solidFill>
            <a:srgbClr val="FFFFFF"/>
          </a:solidFill>
          <a:ln w="22860">
            <a:solidFill>
              <a:srgbClr val="FF5C8A"/>
            </a:solidFill>
          </a:ln>
        </p:spPr>
        <p:style>
          <a:lnRef idx="1">
            <a:schemeClr val="accent1"/>
          </a:lnRef>
          <a:fillRef idx="3">
            <a:schemeClr val="accent1"/>
          </a:fillRef>
          <a:effectRef idx="2">
            <a:schemeClr val="accent1"/>
          </a:effectRef>
          <a:fontRef idx="minor">
            <a:schemeClr val="lt1"/>
          </a:fontRef>
        </p:style>
        <p:txBody>
          <a:bodyPr wrap="square" tIns="164592" rtlCol="0" anchor="ctr"/>
          <a:lstStyle/>
          <a:p>
            <a:pPr algn="ctr">
              <a:defRPr sz="2800" b="1">
                <a:solidFill>
                  <a:srgbClr val="FF5C8A"/>
                </a:solidFill>
              </a:defRPr>
            </a:pPr>
            <a:r>
              <a:t>10 / 10</a:t>
            </a:r>
          </a:p>
          <a:p>
            <a:pPr algn="ctr">
              <a:defRPr sz="1000" b="1">
                <a:solidFill>
                  <a:srgbClr val="1E293B"/>
                </a:solidFill>
              </a:defRPr>
            </a:pPr>
            <a:r>
              <a:t>USER STORIES DONE</a:t>
            </a:r>
          </a:p>
          <a:p>
            <a:pPr algn="ctr">
              <a:defRPr sz="850">
                <a:solidFill>
                  <a:srgbClr val="64748B"/>
                </a:solidFill>
              </a:defRPr>
            </a:pPr>
            <a:r>
              <a:t>Nghiệm thu đạt chuẩn DoD</a:t>
            </a:r>
          </a:p>
        </p:txBody>
      </p:sp>
      <p:sp>
        <p:nvSpPr>
          <p:cNvPr id="15" name="Rounded Rectangle 14"/>
          <p:cNvSpPr/>
          <p:nvPr/>
        </p:nvSpPr>
        <p:spPr>
          <a:xfrm>
            <a:off x="6181344" y="1325880"/>
            <a:ext cx="2560320" cy="1645920"/>
          </a:xfrm>
          <a:prstGeom prst="roundRect">
            <a:avLst/>
          </a:prstGeom>
          <a:solidFill>
            <a:srgbClr val="FFFFFF"/>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wrap="square" tIns="164592" rtlCol="0" anchor="ctr"/>
          <a:lstStyle/>
          <a:p>
            <a:pPr algn="ctr">
              <a:defRPr sz="2800" b="1">
                <a:solidFill>
                  <a:srgbClr val="10B981"/>
                </a:solidFill>
              </a:defRPr>
            </a:pPr>
            <a:r>
              <a:t>0 BUG</a:t>
            </a:r>
          </a:p>
          <a:p>
            <a:pPr algn="ctr">
              <a:defRPr sz="1000" b="1">
                <a:solidFill>
                  <a:srgbClr val="1E293B"/>
                </a:solidFill>
              </a:defRPr>
            </a:pPr>
            <a:r>
              <a:t>CRITICAL / BLOCKING</a:t>
            </a:r>
          </a:p>
          <a:p>
            <a:pPr algn="ctr">
              <a:defRPr sz="850">
                <a:solidFill>
                  <a:srgbClr val="64748B"/>
                </a:solidFill>
              </a:defRPr>
            </a:pPr>
            <a:r>
              <a:t>Chất lượng code ổn định cao</a:t>
            </a:r>
          </a:p>
        </p:txBody>
      </p:sp>
      <p:sp>
        <p:nvSpPr>
          <p:cNvPr id="16" name="Rounded Rectangle 15"/>
          <p:cNvSpPr/>
          <p:nvPr/>
        </p:nvSpPr>
        <p:spPr>
          <a:xfrm>
            <a:off x="8906256" y="1325880"/>
            <a:ext cx="2560320" cy="1645920"/>
          </a:xfrm>
          <a:prstGeom prst="roundRect">
            <a:avLst/>
          </a:prstGeom>
          <a:solidFill>
            <a:srgbClr val="FFFFFF"/>
          </a:solidFill>
          <a:ln w="22860">
            <a:solidFill>
              <a:srgbClr val="F59E0B"/>
            </a:solidFill>
          </a:ln>
        </p:spPr>
        <p:style>
          <a:lnRef idx="1">
            <a:schemeClr val="accent1"/>
          </a:lnRef>
          <a:fillRef idx="3">
            <a:schemeClr val="accent1"/>
          </a:fillRef>
          <a:effectRef idx="2">
            <a:schemeClr val="accent1"/>
          </a:effectRef>
          <a:fontRef idx="minor">
            <a:schemeClr val="lt1"/>
          </a:fontRef>
        </p:style>
        <p:txBody>
          <a:bodyPr wrap="square" tIns="164592" rtlCol="0" anchor="ctr"/>
          <a:lstStyle/>
          <a:p>
            <a:pPr algn="ctr">
              <a:defRPr sz="2800" b="1">
                <a:solidFill>
                  <a:srgbClr val="F59E0B"/>
                </a:solidFill>
              </a:defRPr>
            </a:pPr>
            <a:r>
              <a:t>&lt; 38 ms</a:t>
            </a:r>
          </a:p>
          <a:p>
            <a:pPr algn="ctr">
              <a:defRPr sz="1000" b="1">
                <a:solidFill>
                  <a:srgbClr val="1E293B"/>
                </a:solidFill>
              </a:defRPr>
            </a:pPr>
            <a:r>
              <a:t>ĐỘ TRỄ API CLOUDFLARE</a:t>
            </a:r>
          </a:p>
          <a:p>
            <a:pPr algn="ctr">
              <a:defRPr sz="850">
                <a:solidFill>
                  <a:srgbClr val="64748B"/>
                </a:solidFill>
              </a:defRPr>
            </a:pPr>
            <a:r>
              <a:t>Tốc độ đọc ghi Edge SQLite</a:t>
            </a:r>
          </a:p>
        </p:txBody>
      </p:sp>
      <p:sp>
        <p:nvSpPr>
          <p:cNvPr id="17" name="Rounded Rectangle 16"/>
          <p:cNvSpPr/>
          <p:nvPr/>
        </p:nvSpPr>
        <p:spPr>
          <a:xfrm>
            <a:off x="731520" y="3154680"/>
            <a:ext cx="10728655" cy="1965960"/>
          </a:xfrm>
          <a:prstGeom prst="roundRect">
            <a:avLst/>
          </a:prstGeom>
          <a:solidFill>
            <a:srgbClr val="FFFFFF"/>
          </a:solidFill>
          <a:ln w="15240">
            <a:solidFill>
              <a:srgbClr val="FECDD3"/>
            </a:solidFill>
          </a:ln>
        </p:spPr>
        <p:style>
          <a:lnRef idx="1">
            <a:schemeClr val="accent1"/>
          </a:lnRef>
          <a:fillRef idx="3">
            <a:schemeClr val="accent1"/>
          </a:fillRef>
          <a:effectRef idx="2">
            <a:schemeClr val="accent1"/>
          </a:effectRef>
          <a:fontRef idx="minor">
            <a:schemeClr val="lt1"/>
          </a:fontRef>
        </p:style>
        <p:txBody>
          <a:bodyPr wrap="square" lIns="228600" tIns="164592" rtlCol="0" anchor="ctr"/>
          <a:lstStyle/>
          <a:p>
            <a:pPr algn="ctr">
              <a:defRPr sz="1150" b="1">
                <a:solidFill>
                  <a:srgbClr val="E11D48"/>
                </a:solidFill>
              </a:defRPr>
            </a:pPr>
            <a:r>
              <a:t>📈 PHÂN TÍCH TIẾN ĐỘ BURNDOWN &amp; SỨC KHỎE DỰ ÁN SPRINT 1:</a:t>
            </a:r>
          </a:p>
          <a:p>
            <a:pPr>
              <a:spcBef>
                <a:spcPts val="200"/>
              </a:spcBef>
            </a:pPr>
            <a:r>
              <a:rPr sz="950" b="1">
                <a:solidFill>
                  <a:srgbClr val="1E293B"/>
                </a:solidFill>
              </a:rPr>
              <a:t>• Nhịp độ Burndown lý tưởng: </a:t>
            </a:r>
            <a:r>
              <a:rPr sz="900">
                <a:solidFill>
                  <a:srgbClr val="64748B"/>
                </a:solidFill>
              </a:rPr>
              <a:t>Đường khối lượng công việc giảm đều đặn từ 38 SP về 0 SP trong suốt 14 ngày, không có hiện tượng dồn việc vào phút chót.</a:t>
            </a:r>
          </a:p>
          <a:p>
            <a:pPr>
              <a:spcBef>
                <a:spcPts val="200"/>
              </a:spcBef>
            </a:pPr>
            <a:r>
              <a:rPr sz="950" b="1">
                <a:solidFill>
                  <a:srgbClr val="1E293B"/>
                </a:solidFill>
              </a:rPr>
              <a:t>• Hiệu quả phối hợp Agile: </a:t>
            </a:r>
            <a:r>
              <a:rPr sz="900">
                <a:solidFill>
                  <a:srgbClr val="64748B"/>
                </a:solidFill>
              </a:rPr>
              <a:t>Daily Standup 15 phút mỗi sáng giải quyết ngay các blocker liên quan đến đồng bộ dữ liệu và chuẩn giao tiếp API.</a:t>
            </a:r>
          </a:p>
          <a:p>
            <a:pPr>
              <a:spcBef>
                <a:spcPts val="200"/>
              </a:spcBef>
            </a:pPr>
            <a:r>
              <a:rPr sz="950" b="1">
                <a:solidFill>
                  <a:srgbClr val="1E293B"/>
                </a:solidFill>
              </a:rPr>
              <a:t>• Chất lượng kỹ thuật (Code Quality): </a:t>
            </a:r>
            <a:r>
              <a:rPr sz="900">
                <a:solidFill>
                  <a:srgbClr val="64748B"/>
                </a:solidFill>
              </a:rPr>
              <a:t>Tuân thủ nghiêm ngặt quy chuẩn Clean Code, đặt tên biến rõ nghĩa, chuẩn hóa 3NF giúp backend và frontend ăn khớp hoàn hảo.</a:t>
            </a:r>
          </a:p>
          <a:p>
            <a:pPr>
              <a:spcBef>
                <a:spcPts val="200"/>
              </a:spcBef>
            </a:pPr>
            <a:r>
              <a:rPr sz="950" b="1">
                <a:solidFill>
                  <a:srgbClr val="1E293B"/>
                </a:solidFill>
              </a:rPr>
              <a:t>• Không phát sinh nợ kỹ thuật (Technical Debt): </a:t>
            </a:r>
            <a:r>
              <a:rPr sz="900">
                <a:solidFill>
                  <a:srgbClr val="64748B"/>
                </a:solidFill>
              </a:rPr>
              <a:t>Toàn bộ tài liệu ERD, API schema và test case đều được hoàn thiện song song với quá trình code.</a:t>
            </a:r>
          </a:p>
        </p:txBody>
      </p:sp>
      <p:sp>
        <p:nvSpPr>
          <p:cNvPr id="18" name="Rounded Rectangle 17"/>
          <p:cNvSpPr/>
          <p:nvPr/>
        </p:nvSpPr>
        <p:spPr>
          <a:xfrm>
            <a:off x="731520" y="5303520"/>
            <a:ext cx="1188720" cy="1152144"/>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AoV.jpg"/>
          <p:cNvPicPr>
            <a:picLocks noChangeAspect="1"/>
          </p:cNvPicPr>
          <p:nvPr/>
        </p:nvPicPr>
        <p:blipFill>
          <a:blip r:embed="rId2"/>
          <a:stretch>
            <a:fillRect/>
          </a:stretch>
        </p:blipFill>
        <p:spPr>
          <a:xfrm>
            <a:off x="777240" y="5349240"/>
            <a:ext cx="1097280" cy="1097280"/>
          </a:xfrm>
          <a:prstGeom prst="rect">
            <a:avLst/>
          </a:prstGeom>
        </p:spPr>
      </p:pic>
      <p:sp>
        <p:nvSpPr>
          <p:cNvPr id="20" name="Rounded Rectangle 19"/>
          <p:cNvSpPr/>
          <p:nvPr/>
        </p:nvSpPr>
        <p:spPr>
          <a:xfrm>
            <a:off x="1993392" y="530352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Bảy Màu tự hào:</a:t>
            </a:r>
          </a:p>
          <a:p>
            <a:pPr>
              <a:defRPr sz="950" i="1">
                <a:solidFill>
                  <a:srgbClr val="1E293B"/>
                </a:solidFill>
                <a:latin typeface="Arial"/>
              </a:defRPr>
            </a:pPr>
            <a:r>
              <a:t>"Biểu đồ tiến độ dốc đều tăm tắp, không có cảnh thức trắng đêm 'chữa cháy'! Đúng chuẩn phong cách Agile chuyên nghiệp của 3TG!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HỌP CẢI TIẾN SPRINT RETROSPECTIVE (RÚT KINH NGHIỆM)</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12 / 14</a:t>
            </a:r>
          </a:p>
        </p:txBody>
      </p:sp>
      <p:sp>
        <p:nvSpPr>
          <p:cNvPr id="13" name="Rounded Rectangle 12"/>
          <p:cNvSpPr/>
          <p:nvPr/>
        </p:nvSpPr>
        <p:spPr>
          <a:xfrm>
            <a:off x="731520" y="1325880"/>
            <a:ext cx="3429000" cy="3840480"/>
          </a:xfrm>
          <a:prstGeom prst="roundRect">
            <a:avLst/>
          </a:prstGeom>
          <a:solidFill>
            <a:srgbClr val="FFFFFF"/>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100" b="1">
                <a:solidFill>
                  <a:srgbClr val="10B981"/>
                </a:solidFill>
              </a:defRPr>
            </a:pPr>
            <a:r>
              <a:t>🌟 ĐIỂM LÀM TỐT (WHAT WENT WELL)</a:t>
            </a:r>
          </a:p>
          <a:p>
            <a:pPr>
              <a:defRPr sz="700">
                <a:solidFill>
                  <a:srgbClr val="FECDD3"/>
                </a:solidFill>
              </a:defRPr>
            </a:pPr>
            <a:r>
              <a:t>——————————————————————————</a:t>
            </a:r>
          </a:p>
          <a:p>
            <a:pPr>
              <a:spcBef>
                <a:spcPts val="400"/>
              </a:spcBef>
            </a:pPr>
            <a:r>
              <a:rPr sz="950">
                <a:solidFill>
                  <a:srgbClr val="1E293B"/>
                </a:solidFill>
              </a:rPr>
              <a:t>• Tinh thần đồng đội cao, hỗ trợ nhau nhiệt tình</a:t>
            </a:r>
          </a:p>
          <a:p>
            <a:pPr>
              <a:spcBef>
                <a:spcPts val="400"/>
              </a:spcBef>
            </a:pPr>
            <a:r>
              <a:rPr sz="950">
                <a:solidFill>
                  <a:srgbClr val="1E293B"/>
                </a:solidFill>
              </a:rPr>
              <a:t>• Thiết kế CSDL 3NF chuẩn từ đầu giúp code trơn tru</a:t>
            </a:r>
          </a:p>
          <a:p>
            <a:pPr>
              <a:spcBef>
                <a:spcPts val="400"/>
              </a:spcBef>
            </a:pPr>
            <a:r>
              <a:rPr sz="950">
                <a:solidFill>
                  <a:srgbClr val="1E293B"/>
                </a:solidFill>
              </a:rPr>
              <a:t>• Mascot Thỏ 7 Màu tạo điểm nhấn thương hiệu độc đáo</a:t>
            </a:r>
          </a:p>
          <a:p>
            <a:pPr>
              <a:spcBef>
                <a:spcPts val="400"/>
              </a:spcBef>
            </a:pPr>
            <a:r>
              <a:rPr sz="950">
                <a:solidFill>
                  <a:srgbClr val="1E293B"/>
                </a:solidFill>
              </a:rPr>
              <a:t>• Hoàn thành 100% mục tiêu đúng hạn, không delay</a:t>
            </a:r>
          </a:p>
          <a:p>
            <a:pPr>
              <a:spcBef>
                <a:spcPts val="400"/>
              </a:spcBef>
            </a:pPr>
            <a:r>
              <a:rPr sz="950">
                <a:solidFill>
                  <a:srgbClr val="1E293B"/>
                </a:solidFill>
              </a:rPr>
              <a:t>• Giao diện Gamification nhận phản hồi rất tích cực</a:t>
            </a:r>
          </a:p>
        </p:txBody>
      </p:sp>
      <p:sp>
        <p:nvSpPr>
          <p:cNvPr id="14" name="Rounded Rectangle 13"/>
          <p:cNvSpPr/>
          <p:nvPr/>
        </p:nvSpPr>
        <p:spPr>
          <a:xfrm>
            <a:off x="4389120" y="1325880"/>
            <a:ext cx="3429000" cy="3840480"/>
          </a:xfrm>
          <a:prstGeom prst="roundRect">
            <a:avLst/>
          </a:prstGeom>
          <a:solidFill>
            <a:srgbClr val="FFFFFF"/>
          </a:solidFill>
          <a:ln w="22860">
            <a:solidFill>
              <a:srgbClr val="F59E0B"/>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100" b="1">
                <a:solidFill>
                  <a:srgbClr val="F59E0B"/>
                </a:solidFill>
              </a:defRPr>
            </a:pPr>
            <a:r>
              <a:t>⚠️ ĐIỂM CẦN CẢI THIỆN (TO IMPROVE)</a:t>
            </a:r>
          </a:p>
          <a:p>
            <a:pPr>
              <a:defRPr sz="700">
                <a:solidFill>
                  <a:srgbClr val="FECDD3"/>
                </a:solidFill>
              </a:defRPr>
            </a:pPr>
            <a:r>
              <a:t>——————————————————————————</a:t>
            </a:r>
          </a:p>
          <a:p>
            <a:pPr>
              <a:spcBef>
                <a:spcPts val="400"/>
              </a:spcBef>
            </a:pPr>
            <a:r>
              <a:rPr sz="950">
                <a:solidFill>
                  <a:srgbClr val="1E293B"/>
                </a:solidFill>
              </a:rPr>
              <a:t>• Hiệu ứng animation đôi lúc tốn tài nguyên máy yếu</a:t>
            </a:r>
          </a:p>
          <a:p>
            <a:pPr>
              <a:spcBef>
                <a:spcPts val="400"/>
              </a:spcBef>
            </a:pPr>
            <a:r>
              <a:rPr sz="950">
                <a:solidFill>
                  <a:srgbClr val="1E293B"/>
                </a:solidFill>
              </a:rPr>
              <a:t>• Công tác import dữ liệu câu hỏi ban đầu còn thủ công</a:t>
            </a:r>
          </a:p>
          <a:p>
            <a:pPr>
              <a:spcBef>
                <a:spcPts val="400"/>
              </a:spcBef>
            </a:pPr>
            <a:r>
              <a:rPr sz="950">
                <a:solidFill>
                  <a:srgbClr val="1E293B"/>
                </a:solidFill>
              </a:rPr>
              <a:t>• Cần tăng độ phủ kiểm thử giao diện tự động (E2E)</a:t>
            </a:r>
          </a:p>
          <a:p>
            <a:pPr>
              <a:spcBef>
                <a:spcPts val="400"/>
              </a:spcBef>
            </a:pPr>
            <a:r>
              <a:rPr sz="950">
                <a:solidFill>
                  <a:srgbClr val="1E293B"/>
                </a:solidFill>
              </a:rPr>
              <a:t>• Chưa có tính năng thi đấu thời gian thực giữa sinh viên</a:t>
            </a:r>
          </a:p>
        </p:txBody>
      </p:sp>
      <p:sp>
        <p:nvSpPr>
          <p:cNvPr id="15" name="Rounded Rectangle 14"/>
          <p:cNvSpPr/>
          <p:nvPr/>
        </p:nvSpPr>
        <p:spPr>
          <a:xfrm>
            <a:off x="8046720" y="1325880"/>
            <a:ext cx="3429000" cy="3840480"/>
          </a:xfrm>
          <a:prstGeom prst="roundRect">
            <a:avLst/>
          </a:prstGeom>
          <a:solidFill>
            <a:srgbClr val="FFFFFF"/>
          </a:solidFill>
          <a:ln w="22860">
            <a:solidFill>
              <a:srgbClr val="E11D48"/>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100" b="1">
                <a:solidFill>
                  <a:srgbClr val="E11D48"/>
                </a:solidFill>
              </a:defRPr>
            </a:pPr>
            <a:r>
              <a:t>🔧 HÀNH ĐỘNG CỤ THỂ (ACTION ITEMS)</a:t>
            </a:r>
          </a:p>
          <a:p>
            <a:pPr>
              <a:defRPr sz="700">
                <a:solidFill>
                  <a:srgbClr val="FECDD3"/>
                </a:solidFill>
              </a:defRPr>
            </a:pPr>
            <a:r>
              <a:t>——————————————————————————</a:t>
            </a:r>
          </a:p>
          <a:p>
            <a:pPr>
              <a:spcBef>
                <a:spcPts val="400"/>
              </a:spcBef>
            </a:pPr>
            <a:r>
              <a:rPr sz="950">
                <a:solidFill>
                  <a:srgbClr val="1E293B"/>
                </a:solidFill>
              </a:rPr>
              <a:t>• Áp dụng Code Splitting &amp; tối ưu CSS Hardware Acceleration</a:t>
            </a:r>
          </a:p>
          <a:p>
            <a:pPr>
              <a:spcBef>
                <a:spcPts val="400"/>
              </a:spcBef>
            </a:pPr>
            <a:r>
              <a:rPr sz="950">
                <a:solidFill>
                  <a:srgbClr val="1E293B"/>
                </a:solidFill>
              </a:rPr>
              <a:t>• Xây dựng script tự động import đề thi từ file Excel/Word</a:t>
            </a:r>
          </a:p>
          <a:p>
            <a:pPr>
              <a:spcBef>
                <a:spcPts val="400"/>
              </a:spcBef>
            </a:pPr>
            <a:r>
              <a:rPr sz="950">
                <a:solidFill>
                  <a:srgbClr val="1E293B"/>
                </a:solidFill>
              </a:rPr>
              <a:t>• Thiết lập bộ test Cypress / Playwright cho giao diện</a:t>
            </a:r>
          </a:p>
          <a:p>
            <a:pPr>
              <a:spcBef>
                <a:spcPts val="400"/>
              </a:spcBef>
            </a:pPr>
            <a:r>
              <a:rPr sz="950">
                <a:solidFill>
                  <a:srgbClr val="1E293B"/>
                </a:solidFill>
              </a:rPr>
              <a:t>• Bổ sung tính năng Đấu trường PvP 1v1 ngay trong Sprint 2</a:t>
            </a:r>
          </a:p>
        </p:txBody>
      </p:sp>
      <p:sp>
        <p:nvSpPr>
          <p:cNvPr id="16" name="Rounded Rectangle 15"/>
          <p:cNvSpPr/>
          <p:nvPr/>
        </p:nvSpPr>
        <p:spPr>
          <a:xfrm>
            <a:off x="731520" y="5303520"/>
            <a:ext cx="1188720" cy="1152144"/>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hỏ bảy màu8.jpg"/>
          <p:cNvPicPr>
            <a:picLocks noChangeAspect="1"/>
          </p:cNvPicPr>
          <p:nvPr/>
        </p:nvPicPr>
        <p:blipFill>
          <a:blip r:embed="rId2"/>
          <a:stretch>
            <a:fillRect/>
          </a:stretch>
        </p:blipFill>
        <p:spPr>
          <a:xfrm>
            <a:off x="777240" y="5349240"/>
            <a:ext cx="1097280" cy="1097280"/>
          </a:xfrm>
          <a:prstGeom prst="rect">
            <a:avLst/>
          </a:prstGeom>
        </p:spPr>
      </p:pic>
      <p:sp>
        <p:nvSpPr>
          <p:cNvPr id="18" name="Rounded Rectangle 17"/>
          <p:cNvSpPr/>
          <p:nvPr/>
        </p:nvSpPr>
        <p:spPr>
          <a:xfrm>
            <a:off x="1993392" y="530352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Bảy Màu rút kinh nghiệm:</a:t>
            </a:r>
          </a:p>
          <a:p>
            <a:pPr>
              <a:defRPr sz="950" i="1">
                <a:solidFill>
                  <a:srgbClr val="1E293B"/>
                </a:solidFill>
                <a:latin typeface="Arial"/>
              </a:defRPr>
            </a:pPr>
            <a:r>
              <a:t>"Có nhìn lại mới thấy mình trưởng thành! Những vấp váp nhỏ của Sprint 1 sẽ là đòn bẩy để Sprint 2 bùng nổ dữ dội hơn nữa!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256032"/>
            <a:ext cx="4114800" cy="292608"/>
          </a:xfrm>
          <a:prstGeom prst="roundRect">
            <a:avLst/>
          </a:prstGeom>
          <a:solidFill>
            <a:srgbClr val="FFE4EB"/>
          </a:solidFill>
          <a:ln w="12700">
            <a:solidFill>
              <a:srgbClr val="FF5C8A"/>
            </a:solid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950" b="1">
                <a:solidFill>
                  <a:srgbClr val="E11D48"/>
                </a:solidFill>
                <a:latin typeface="Arial"/>
              </a:defRPr>
            </a:pPr>
            <a:r>
              <a:t>🌸 TỔNG KẾT SPRINT 1 • DỰ ÁN 3TG ALL-IN-ONE</a:t>
            </a:r>
          </a:p>
        </p:txBody>
      </p:sp>
      <p:sp>
        <p:nvSpPr>
          <p:cNvPr id="11" name="TextBox 10"/>
          <p:cNvSpPr txBox="1"/>
          <p:nvPr/>
        </p:nvSpPr>
        <p:spPr>
          <a:xfrm>
            <a:off x="731520" y="566928"/>
            <a:ext cx="8686800" cy="594360"/>
          </a:xfrm>
          <a:prstGeom prst="rect">
            <a:avLst/>
          </a:prstGeom>
          <a:noFill/>
        </p:spPr>
        <p:txBody>
          <a:bodyPr wrap="square">
            <a:spAutoFit/>
          </a:bodyPr>
          <a:lstStyle/>
          <a:p>
            <a:pPr>
              <a:defRPr sz="2100" b="1">
                <a:solidFill>
                  <a:srgbClr val="1E293B"/>
                </a:solidFill>
                <a:latin typeface="Arial"/>
              </a:defRPr>
            </a:pPr>
            <a:r>
              <a:t>KẾ HOẠCH HÀNH ĐỘNG CHI TIẾT SPRINT 2 (ROADMAP)</a:t>
            </a:r>
          </a:p>
        </p:txBody>
      </p:sp>
      <p:sp>
        <p:nvSpPr>
          <p:cNvPr id="12" name="Rounded Rectangle 11"/>
          <p:cNvSpPr/>
          <p:nvPr/>
        </p:nvSpPr>
        <p:spPr>
          <a:xfrm>
            <a:off x="10424160" y="320040"/>
            <a:ext cx="1005840" cy="320040"/>
          </a:xfrm>
          <a:prstGeom prst="roundRect">
            <a:avLst/>
          </a:prstGeom>
          <a:solidFill>
            <a:srgbClr val="FFFFFF"/>
          </a:solidFill>
          <a:ln w="12700">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5C8A"/>
                </a:solidFill>
                <a:latin typeface="Arial"/>
              </a:defRPr>
            </a:pPr>
            <a:r>
              <a:t>13 / 14</a:t>
            </a:r>
          </a:p>
        </p:txBody>
      </p:sp>
      <p:sp>
        <p:nvSpPr>
          <p:cNvPr id="13" name="Rounded Rectangle 12"/>
          <p:cNvSpPr/>
          <p:nvPr/>
        </p:nvSpPr>
        <p:spPr>
          <a:xfrm>
            <a:off x="731520" y="1325880"/>
            <a:ext cx="2560320" cy="3840480"/>
          </a:xfrm>
          <a:prstGeom prst="roundRect">
            <a:avLst/>
          </a:prstGeom>
          <a:solidFill>
            <a:srgbClr val="FFFFFF"/>
          </a:solidFill>
          <a:ln w="22860">
            <a:solidFill>
              <a:srgbClr val="E11D48"/>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defRPr sz="1000" b="1">
                <a:solidFill>
                  <a:srgbClr val="E11D48"/>
                </a:solidFill>
              </a:defRPr>
            </a:pPr>
            <a:r>
              <a:t>⚔️ 1. ĐẤU TRƯỜNG TRI THỨC (PvP REALTIME)</a:t>
            </a:r>
          </a:p>
          <a:p>
            <a:pPr>
              <a:defRPr sz="900" i="1">
                <a:solidFill>
                  <a:srgbClr val="64748B"/>
                </a:solidFill>
              </a:defRPr>
            </a:pPr>
            <a:r>
              <a:t>Thách đấu 1v1 trực tiếp</a:t>
            </a:r>
          </a:p>
          <a:p>
            <a:pPr>
              <a:defRPr sz="700">
                <a:solidFill>
                  <a:srgbClr val="FECDD3"/>
                </a:solidFill>
              </a:defRPr>
            </a:pPr>
            <a:r>
              <a:t>————————————————————</a:t>
            </a:r>
          </a:p>
          <a:p>
            <a:pPr>
              <a:spcBef>
                <a:spcPts val="300"/>
              </a:spcBef>
            </a:pPr>
            <a:r>
              <a:rPr sz="900">
                <a:solidFill>
                  <a:srgbClr val="1E293B"/>
                </a:solidFill>
              </a:rPr>
              <a:t>• Sinh viên ghép cặp ngẫu nhiên hoặc thách đấu bạn bè</a:t>
            </a:r>
          </a:p>
          <a:p>
            <a:pPr>
              <a:spcBef>
                <a:spcPts val="300"/>
              </a:spcBef>
            </a:pPr>
            <a:r>
              <a:rPr sz="900">
                <a:solidFill>
                  <a:srgbClr val="1E293B"/>
                </a:solidFill>
              </a:rPr>
              <a:t>• Thi đấu giải nhanh 5 câu trắc nghiệm cùng thời gian thực</a:t>
            </a:r>
          </a:p>
          <a:p>
            <a:pPr>
              <a:spcBef>
                <a:spcPts val="300"/>
              </a:spcBef>
            </a:pPr>
            <a:r>
              <a:rPr sz="900">
                <a:solidFill>
                  <a:srgbClr val="1E293B"/>
                </a:solidFill>
              </a:rPr>
              <a:t>• Hiển thị thanh máu và tốc độ trả lời của đối thủ</a:t>
            </a:r>
          </a:p>
          <a:p>
            <a:pPr>
              <a:spcBef>
                <a:spcPts val="300"/>
              </a:spcBef>
            </a:pPr>
            <a:r>
              <a:rPr sz="900">
                <a:solidFill>
                  <a:srgbClr val="1E293B"/>
                </a:solidFill>
              </a:rPr>
              <a:t>• Cộng trừ cúp xếp hạng (Trophies) kịch tính</a:t>
            </a:r>
          </a:p>
        </p:txBody>
      </p:sp>
      <p:sp>
        <p:nvSpPr>
          <p:cNvPr id="14" name="Rounded Rectangle 13"/>
          <p:cNvSpPr/>
          <p:nvPr/>
        </p:nvSpPr>
        <p:spPr>
          <a:xfrm>
            <a:off x="3456432" y="1325880"/>
            <a:ext cx="2560320" cy="3840480"/>
          </a:xfrm>
          <a:prstGeom prst="roundRect">
            <a:avLst/>
          </a:prstGeom>
          <a:solidFill>
            <a:srgbClr val="FFFFFF"/>
          </a:solidFill>
          <a:ln w="22860">
            <a:solidFill>
              <a:srgbClr val="F59E0B"/>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defRPr sz="1000" b="1">
                <a:solidFill>
                  <a:srgbClr val="F59E0B"/>
                </a:solidFill>
              </a:defRPr>
            </a:pPr>
            <a:r>
              <a:t>🛒 2. CỬA HÀNG VẬT PHẨM (SHOP 3TG)</a:t>
            </a:r>
          </a:p>
          <a:p>
            <a:pPr>
              <a:defRPr sz="900" i="1">
                <a:solidFill>
                  <a:srgbClr val="64748B"/>
                </a:solidFill>
              </a:defRPr>
            </a:pPr>
            <a:r>
              <a:t>Kinh tế Gamification</a:t>
            </a:r>
          </a:p>
          <a:p>
            <a:pPr>
              <a:defRPr sz="700">
                <a:solidFill>
                  <a:srgbClr val="FECDD3"/>
                </a:solidFill>
              </a:defRPr>
            </a:pPr>
            <a:r>
              <a:t>————————————————————</a:t>
            </a:r>
          </a:p>
          <a:p>
            <a:pPr>
              <a:spcBef>
                <a:spcPts val="300"/>
              </a:spcBef>
            </a:pPr>
            <a:r>
              <a:rPr sz="900">
                <a:solidFill>
                  <a:srgbClr val="1E293B"/>
                </a:solidFill>
              </a:rPr>
              <a:t>• Đổi Gems tích lũy lấy Bình hồi máu (Full Hearts)</a:t>
            </a:r>
          </a:p>
          <a:p>
            <a:pPr>
              <a:spcBef>
                <a:spcPts val="300"/>
              </a:spcBef>
            </a:pPr>
            <a:r>
              <a:rPr sz="900">
                <a:solidFill>
                  <a:srgbClr val="1E293B"/>
                </a:solidFill>
              </a:rPr>
              <a:t>• Mua Băng bảo vệ chuỗi Streak khi bận việc đột xuất</a:t>
            </a:r>
          </a:p>
          <a:p>
            <a:pPr>
              <a:spcBef>
                <a:spcPts val="300"/>
              </a:spcBef>
            </a:pPr>
            <a:r>
              <a:rPr sz="900">
                <a:solidFill>
                  <a:srgbClr val="1E293B"/>
                </a:solidFill>
              </a:rPr>
              <a:t>• Mở khóa các trang phục skin đặc biệt cho Thỏ 7 Màu</a:t>
            </a:r>
          </a:p>
          <a:p>
            <a:pPr>
              <a:spcBef>
                <a:spcPts val="300"/>
              </a:spcBef>
            </a:pPr>
            <a:r>
              <a:rPr sz="900">
                <a:solidFill>
                  <a:srgbClr val="1E293B"/>
                </a:solidFill>
              </a:rPr>
              <a:t>• Huy hiệu danh giá độc quyền trong cửa hàng</a:t>
            </a:r>
          </a:p>
        </p:txBody>
      </p:sp>
      <p:sp>
        <p:nvSpPr>
          <p:cNvPr id="15" name="Rounded Rectangle 14"/>
          <p:cNvSpPr/>
          <p:nvPr/>
        </p:nvSpPr>
        <p:spPr>
          <a:xfrm>
            <a:off x="6181344" y="1325880"/>
            <a:ext cx="2560320" cy="3840480"/>
          </a:xfrm>
          <a:prstGeom prst="roundRect">
            <a:avLst/>
          </a:prstGeom>
          <a:solidFill>
            <a:srgbClr val="FFFFFF"/>
          </a:solidFill>
          <a:ln w="22860">
            <a:solidFill>
              <a:srgbClr val="8B5CF6"/>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defRPr sz="1000" b="1">
                <a:solidFill>
                  <a:srgbClr val="8B5CF6"/>
                </a:solidFill>
              </a:defRPr>
            </a:pPr>
            <a:r>
              <a:t>🏆 3. BẢNG XẾP HẠNG TUẦN (LEAGUES)</a:t>
            </a:r>
          </a:p>
          <a:p>
            <a:pPr>
              <a:defRPr sz="900" i="1">
                <a:solidFill>
                  <a:srgbClr val="64748B"/>
                </a:solidFill>
              </a:defRPr>
            </a:pPr>
            <a:r>
              <a:t>Thi đua leo hạng</a:t>
            </a:r>
          </a:p>
          <a:p>
            <a:pPr>
              <a:defRPr sz="700">
                <a:solidFill>
                  <a:srgbClr val="FECDD3"/>
                </a:solidFill>
              </a:defRPr>
            </a:pPr>
            <a:r>
              <a:t>————————————————————</a:t>
            </a:r>
          </a:p>
          <a:p>
            <a:pPr>
              <a:spcBef>
                <a:spcPts val="300"/>
              </a:spcBef>
            </a:pPr>
            <a:r>
              <a:rPr sz="900">
                <a:solidFill>
                  <a:srgbClr val="1E293B"/>
                </a:solidFill>
              </a:rPr>
              <a:t>• Phân chia 5 bậc giải đấu: Đồng, Bạc, Vàng, Kim Cương, Thần Thoại</a:t>
            </a:r>
          </a:p>
          <a:p>
            <a:pPr>
              <a:spcBef>
                <a:spcPts val="300"/>
              </a:spcBef>
            </a:pPr>
            <a:r>
              <a:rPr sz="900">
                <a:solidFill>
                  <a:srgbClr val="1E293B"/>
                </a:solidFill>
              </a:rPr>
              <a:t>• Top 10 sinh viên thăng hạng, bottom 5 sinh viên xuống hạng</a:t>
            </a:r>
          </a:p>
          <a:p>
            <a:pPr>
              <a:spcBef>
                <a:spcPts val="300"/>
              </a:spcBef>
            </a:pPr>
            <a:r>
              <a:rPr sz="900">
                <a:solidFill>
                  <a:srgbClr val="1E293B"/>
                </a:solidFill>
              </a:rPr>
              <a:t>• Reset giải đấu vào tối Chủ Nhật hàng tuần</a:t>
            </a:r>
          </a:p>
          <a:p>
            <a:pPr>
              <a:spcBef>
                <a:spcPts val="300"/>
              </a:spcBef>
            </a:pPr>
            <a:r>
              <a:rPr sz="900">
                <a:solidFill>
                  <a:srgbClr val="1E293B"/>
                </a:solidFill>
              </a:rPr>
              <a:t>• Phần thưởng Gems và danh hiệu vinh danh tuần</a:t>
            </a:r>
          </a:p>
        </p:txBody>
      </p:sp>
      <p:sp>
        <p:nvSpPr>
          <p:cNvPr id="16" name="Rounded Rectangle 15"/>
          <p:cNvSpPr/>
          <p:nvPr/>
        </p:nvSpPr>
        <p:spPr>
          <a:xfrm>
            <a:off x="8906256" y="1325880"/>
            <a:ext cx="2560320" cy="3840480"/>
          </a:xfrm>
          <a:prstGeom prst="roundRect">
            <a:avLst/>
          </a:prstGeom>
          <a:solidFill>
            <a:srgbClr val="FFFFFF"/>
          </a:solidFill>
          <a:ln w="22860">
            <a:solidFill>
              <a:srgbClr val="10B981"/>
            </a:solidFill>
          </a:ln>
        </p:spPr>
        <p:style>
          <a:lnRef idx="1">
            <a:schemeClr val="accent1"/>
          </a:lnRef>
          <a:fillRef idx="3">
            <a:schemeClr val="accent1"/>
          </a:fillRef>
          <a:effectRef idx="2">
            <a:schemeClr val="accent1"/>
          </a:effectRef>
          <a:fontRef idx="minor">
            <a:schemeClr val="lt1"/>
          </a:fontRef>
        </p:style>
        <p:txBody>
          <a:bodyPr wrap="square" lIns="164592" tIns="182880" rIns="164592" rtlCol="0" anchor="ctr"/>
          <a:lstStyle/>
          <a:p>
            <a:pPr algn="ctr">
              <a:defRPr sz="1000" b="1">
                <a:solidFill>
                  <a:srgbClr val="10B981"/>
                </a:solidFill>
              </a:defRPr>
            </a:pPr>
            <a:r>
              <a:t>📊 4. AI PHÂN TÍCH ĐIỂM YẾU HỌC TẬP</a:t>
            </a:r>
          </a:p>
          <a:p>
            <a:pPr>
              <a:defRPr sz="900" i="1">
                <a:solidFill>
                  <a:srgbClr val="64748B"/>
                </a:solidFill>
              </a:defRPr>
            </a:pPr>
            <a:r>
              <a:t>Cá nhân hóa thông minh</a:t>
            </a:r>
          </a:p>
          <a:p>
            <a:pPr>
              <a:defRPr sz="700">
                <a:solidFill>
                  <a:srgbClr val="FECDD3"/>
                </a:solidFill>
              </a:defRPr>
            </a:pPr>
            <a:r>
              <a:t>————————————————————</a:t>
            </a:r>
          </a:p>
          <a:p>
            <a:pPr>
              <a:spcBef>
                <a:spcPts val="300"/>
              </a:spcBef>
            </a:pPr>
            <a:r>
              <a:rPr sz="900">
                <a:solidFill>
                  <a:srgbClr val="1E293B"/>
                </a:solidFill>
              </a:rPr>
              <a:t>• Tự động thống kê các dạng câu hỏi sinh viên hay làm sai</a:t>
            </a:r>
          </a:p>
          <a:p>
            <a:pPr>
              <a:spcBef>
                <a:spcPts val="300"/>
              </a:spcBef>
            </a:pPr>
            <a:r>
              <a:rPr sz="900">
                <a:solidFill>
                  <a:srgbClr val="1E293B"/>
                </a:solidFill>
              </a:rPr>
              <a:t>• AI gợi ý lộ trình ôn tập trọng tâm để bồi đắp kiến thức</a:t>
            </a:r>
          </a:p>
          <a:p>
            <a:pPr>
              <a:spcBef>
                <a:spcPts val="300"/>
              </a:spcBef>
            </a:pPr>
            <a:r>
              <a:rPr sz="900">
                <a:solidFill>
                  <a:srgbClr val="1E293B"/>
                </a:solidFill>
              </a:rPr>
              <a:t>• Dự báo xác suất vượt qua bài thi kết thúc môn</a:t>
            </a:r>
          </a:p>
          <a:p>
            <a:pPr>
              <a:spcBef>
                <a:spcPts val="300"/>
              </a:spcBef>
            </a:pPr>
            <a:r>
              <a:rPr sz="900">
                <a:solidFill>
                  <a:srgbClr val="1E293B"/>
                </a:solidFill>
              </a:rPr>
              <a:t>• Xuất báo cáo kết quả học tập cho phụ huynh/giảng viên</a:t>
            </a:r>
          </a:p>
        </p:txBody>
      </p:sp>
      <p:sp>
        <p:nvSpPr>
          <p:cNvPr id="17" name="Rounded Rectangle 16"/>
          <p:cNvSpPr/>
          <p:nvPr/>
        </p:nvSpPr>
        <p:spPr>
          <a:xfrm>
            <a:off x="731520" y="5303520"/>
            <a:ext cx="1188720" cy="1152144"/>
          </a:xfrm>
          <a:prstGeom prst="roundRect">
            <a:avLst/>
          </a:prstGeom>
          <a:solidFill>
            <a:srgbClr val="FFFFFF"/>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download (2)9.jpg"/>
          <p:cNvPicPr>
            <a:picLocks noChangeAspect="1"/>
          </p:cNvPicPr>
          <p:nvPr/>
        </p:nvPicPr>
        <p:blipFill>
          <a:blip r:embed="rId2"/>
          <a:stretch>
            <a:fillRect/>
          </a:stretch>
        </p:blipFill>
        <p:spPr>
          <a:xfrm>
            <a:off x="777240" y="5349240"/>
            <a:ext cx="1097280" cy="1098773"/>
          </a:xfrm>
          <a:prstGeom prst="rect">
            <a:avLst/>
          </a:prstGeom>
        </p:spPr>
      </p:pic>
      <p:sp>
        <p:nvSpPr>
          <p:cNvPr id="19" name="Rounded Rectangle 18"/>
          <p:cNvSpPr/>
          <p:nvPr/>
        </p:nvSpPr>
        <p:spPr>
          <a:xfrm>
            <a:off x="1993392" y="5303520"/>
            <a:ext cx="8686800" cy="128016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ctr"/>
          <a:lstStyle/>
          <a:p>
            <a:pPr algn="ctr">
              <a:defRPr sz="1000" b="1">
                <a:solidFill>
                  <a:srgbClr val="E11D48"/>
                </a:solidFill>
                <a:latin typeface="Arial"/>
              </a:defRPr>
            </a:pPr>
            <a:r>
              <a:t>💬 Thỏ Bảy Màu hào hứng:</a:t>
            </a:r>
          </a:p>
          <a:p>
            <a:pPr>
              <a:defRPr sz="950" i="1">
                <a:solidFill>
                  <a:srgbClr val="1E293B"/>
                </a:solidFill>
                <a:latin typeface="Arial"/>
              </a:defRPr>
            </a:pPr>
            <a:r>
              <a:t>"Sprint 2 sẽ là sân chơi so trình cực gắt với tính năng PvP thời gian thực! Mời anh em mài sắc kiếm sẵn sàng leo rank cùng Thỏ nha!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787390"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741670" y="0"/>
            <a:ext cx="1787390" cy="73152"/>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483341" y="0"/>
            <a:ext cx="1787390" cy="73152"/>
          </a:xfrm>
          <a:prstGeom prst="rect">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225012" y="0"/>
            <a:ext cx="178739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966682" y="0"/>
            <a:ext cx="178739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708353" y="0"/>
            <a:ext cx="178739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0450024" y="0"/>
            <a:ext cx="178739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1520" y="1097280"/>
            <a:ext cx="6583680" cy="5029200"/>
          </a:xfrm>
          <a:prstGeom prst="roundRect">
            <a:avLst/>
          </a:prstGeom>
          <a:solidFill>
            <a:srgbClr val="FFFFFF"/>
          </a:solidFill>
          <a:ln w="25400">
            <a:solidFill>
              <a:srgbClr val="FF5C8A"/>
            </a:solidFill>
          </a:ln>
        </p:spPr>
        <p:style>
          <a:lnRef idx="1">
            <a:schemeClr val="accent1"/>
          </a:lnRef>
          <a:fillRef idx="3">
            <a:schemeClr val="accent1"/>
          </a:fillRef>
          <a:effectRef idx="2">
            <a:schemeClr val="accent1"/>
          </a:effectRef>
          <a:fontRef idx="minor">
            <a:schemeClr val="lt1"/>
          </a:fontRef>
        </p:style>
        <p:txBody>
          <a:bodyPr wrap="square" lIns="320040" tIns="320040" rtlCol="0" anchor="ctr"/>
          <a:lstStyle/>
          <a:p>
            <a:pPr algn="ctr">
              <a:defRPr sz="1400" b="1">
                <a:solidFill>
                  <a:srgbClr val="E11D48"/>
                </a:solidFill>
              </a:defRPr>
            </a:pPr>
            <a:r>
              <a:t>🌸 LỜI CẢM ƠN &amp; KẾT LUẬN</a:t>
            </a:r>
          </a:p>
          <a:p>
            <a:pPr>
              <a:spcBef>
                <a:spcPts val="800"/>
              </a:spcBef>
              <a:defRPr sz="2200" b="1">
                <a:solidFill>
                  <a:srgbClr val="1E293B"/>
                </a:solidFill>
              </a:defRPr>
            </a:pPr>
            <a:r>
              <a:t>CHÂN THÀNH CẢM ƠN THẦY CÔ &amp; CÁC BẠN!</a:t>
            </a:r>
          </a:p>
          <a:p>
            <a:pPr>
              <a:spcBef>
                <a:spcPts val="600"/>
              </a:spcBef>
            </a:pPr>
            <a:r>
              <a:rPr sz="1050" b="1">
                <a:solidFill>
                  <a:srgbClr val="FF5C8A"/>
                </a:solidFill>
              </a:rPr>
              <a:t>★ Hoàn thành xuất sắc sứ mệnh Sprint 1: </a:t>
            </a:r>
            <a:r>
              <a:rPr sz="1000">
                <a:solidFill>
                  <a:srgbClr val="1E293B"/>
                </a:solidFill>
              </a:rPr>
              <a:t>Team 3TG đã hiện thực hóa 100% mục tiêu cốt lõi, xây dựng thành công nền móng vững chắc cho nền tảng học tập thông minh All-in-One.</a:t>
            </a:r>
          </a:p>
          <a:p>
            <a:pPr>
              <a:spcBef>
                <a:spcPts val="600"/>
              </a:spcBef>
            </a:pPr>
            <a:r>
              <a:rPr sz="1050" b="1">
                <a:solidFill>
                  <a:srgbClr val="FF5C8A"/>
                </a:solidFill>
              </a:rPr>
              <a:t>★ Lời tri ân sâu sắc: </a:t>
            </a:r>
            <a:r>
              <a:rPr sz="1000">
                <a:solidFill>
                  <a:srgbClr val="1E293B"/>
                </a:solidFill>
              </a:rPr>
              <a:t>Xin chân thành cảm ơn sự hướng dẫn tận tình, những góp ý chuyên môn quý báu của Giảng viên bộ môn Công nghệ phần mềm - Khoa CNTT - Đại học CMC.</a:t>
            </a:r>
          </a:p>
          <a:p>
            <a:pPr>
              <a:spcBef>
                <a:spcPts val="600"/>
              </a:spcBef>
            </a:pPr>
            <a:r>
              <a:rPr sz="1050" b="1">
                <a:solidFill>
                  <a:srgbClr val="FF5C8A"/>
                </a:solidFill>
              </a:rPr>
              <a:t>★ Cam kết chặng đường tiếp theo: </a:t>
            </a:r>
            <a:r>
              <a:rPr sz="1000">
                <a:solidFill>
                  <a:srgbClr val="1E293B"/>
                </a:solidFill>
              </a:rPr>
              <a:t>Đội ngũ 3TG cam kết tiếp tục nỗ lực phát huy cao độ tinh thần Agile, đưa sản phẩm đạt chất lượng cao nhất phục vụ sinh viên.</a:t>
            </a:r>
          </a:p>
          <a:p>
            <a:pPr>
              <a:spcBef>
                <a:spcPts val="600"/>
              </a:spcBef>
            </a:pPr>
            <a:r>
              <a:rPr sz="1050" b="1">
                <a:solidFill>
                  <a:srgbClr val="FF5C8A"/>
                </a:solidFill>
              </a:rPr>
              <a:t>★ Phiên thảo luận &amp; Hỏi đáp (Q&amp;A): </a:t>
            </a:r>
            <a:r>
              <a:rPr sz="1000">
                <a:solidFill>
                  <a:srgbClr val="1E293B"/>
                </a:solidFill>
              </a:rPr>
              <a:t>Rất mong nhận được những câu hỏi, đánh giá và đóng góp ý kiến quý báu từ Thầy Cô và các bạn sinh viên!</a:t>
            </a:r>
          </a:p>
        </p:txBody>
      </p:sp>
      <p:sp>
        <p:nvSpPr>
          <p:cNvPr id="11" name="Rounded Rectangle 10"/>
          <p:cNvSpPr/>
          <p:nvPr/>
        </p:nvSpPr>
        <p:spPr>
          <a:xfrm>
            <a:off x="7589520" y="1097280"/>
            <a:ext cx="3870655" cy="5029200"/>
          </a:xfrm>
          <a:prstGeom prst="roundRect">
            <a:avLst/>
          </a:prstGeom>
          <a:solidFill>
            <a:srgbClr val="FFFFFF"/>
          </a:solidFill>
          <a:ln w="254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oV.jpg"/>
          <p:cNvPicPr>
            <a:picLocks noChangeAspect="1"/>
          </p:cNvPicPr>
          <p:nvPr/>
        </p:nvPicPr>
        <p:blipFill>
          <a:blip r:embed="rId2"/>
          <a:stretch>
            <a:fillRect/>
          </a:stretch>
        </p:blipFill>
        <p:spPr>
          <a:xfrm>
            <a:off x="8001000" y="1325880"/>
            <a:ext cx="3017520" cy="3017520"/>
          </a:xfrm>
          <a:prstGeom prst="rect">
            <a:avLst/>
          </a:prstGeom>
        </p:spPr>
      </p:pic>
      <p:sp>
        <p:nvSpPr>
          <p:cNvPr id="13" name="Rounded Rectangle 12"/>
          <p:cNvSpPr/>
          <p:nvPr/>
        </p:nvSpPr>
        <p:spPr>
          <a:xfrm>
            <a:off x="7818120" y="4297680"/>
            <a:ext cx="3429000" cy="1645920"/>
          </a:xfrm>
          <a:prstGeom prst="roundRect">
            <a:avLst/>
          </a:prstGeom>
          <a:solidFill>
            <a:srgbClr val="FFF1F2"/>
          </a:solidFill>
          <a:ln w="19050">
            <a:solidFill>
              <a:srgbClr val="FF5C8A"/>
            </a:solidFill>
          </a:ln>
        </p:spPr>
        <p:style>
          <a:lnRef idx="1">
            <a:schemeClr val="accent1"/>
          </a:lnRef>
          <a:fillRef idx="3">
            <a:schemeClr val="accent1"/>
          </a:fillRef>
          <a:effectRef idx="2">
            <a:schemeClr val="accent1"/>
          </a:effectRef>
          <a:fontRef idx="minor">
            <a:schemeClr val="lt1"/>
          </a:fontRef>
        </p:style>
        <p:txBody>
          <a:bodyPr wrap="square" lIns="137160" tIns="109728" rtlCol="0" anchor="ctr"/>
          <a:lstStyle/>
          <a:p>
            <a:pPr algn="ctr">
              <a:defRPr sz="1050" b="1">
                <a:solidFill>
                  <a:srgbClr val="E11D48"/>
                </a:solidFill>
              </a:defRPr>
            </a:pPr>
            <a:r>
              <a:t>💬 Thỏ Bảy Màu nhắn nhủ:</a:t>
            </a:r>
          </a:p>
          <a:p>
            <a:pPr>
              <a:defRPr sz="950" i="1">
                <a:solidFill>
                  <a:srgbClr val="1E293B"/>
                </a:solidFill>
              </a:defRPr>
            </a:pPr>
            <a:r>
              <a:t>"Buổi báo cáo kết thúc rồi nè! Thầy Cô và các bạn có câu hỏi gì cứ hỏi tự nhiên nha, đừng hỏi đề thi hóc búa quá Thỏ giận á nghen! Cảm ơn mọi người nhiều ạ!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3695</Words>
  <Application>Microsoft Office PowerPoint</Application>
  <PresentationFormat>Widescreen</PresentationFormat>
  <Paragraphs>309</Paragraphs>
  <Slides>14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 LE VAN - ST CMCU</cp:lastModifiedBy>
  <cp:revision>2</cp:revision>
  <dcterms:created xsi:type="dcterms:W3CDTF">2013-01-27T09:14:16Z</dcterms:created>
  <dcterms:modified xsi:type="dcterms:W3CDTF">2026-10-22T07:04:55Z</dcterms:modified>
  <cp:category/>
</cp:coreProperties>
</file>